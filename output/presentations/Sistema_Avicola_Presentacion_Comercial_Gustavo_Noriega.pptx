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3bb6e5d2c2415f" /><Relationship Type="http://schemas.openxmlformats.org/officeDocument/2006/relationships/extended-properties" Target="/docProps/app.xml" Id="Rbd5107bbc1c44361" /><Relationship Type="http://schemas.openxmlformats.org/officeDocument/2006/relationships/officeDocument" Target="/ppt/presentation.xml" Id="R8028bc3f030a40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1071c3a2904579"/>
  </p:sldMasterIdLst>
  <p:notesMasterIdLst>
    <p:notesMasterId xmlns:r="http://schemas.openxmlformats.org/officeDocument/2006/relationships" r:id="R6cd8cd2fce9d4560"/>
  </p:notesMasterIdLst>
  <p:sldIdLst>
    <p:sldId xmlns:r="http://schemas.openxmlformats.org/officeDocument/2006/relationships" id="256" r:id="R2f87abdbd4bf48b5"/>
    <p:sldId xmlns:r="http://schemas.openxmlformats.org/officeDocument/2006/relationships" id="257" r:id="R566701f0274b46b5"/>
    <p:sldId xmlns:r="http://schemas.openxmlformats.org/officeDocument/2006/relationships" id="258" r:id="R0bf6769e326b47b4"/>
    <p:sldId xmlns:r="http://schemas.openxmlformats.org/officeDocument/2006/relationships" id="259" r:id="R6594ee622fca40c4"/>
    <p:sldId xmlns:r="http://schemas.openxmlformats.org/officeDocument/2006/relationships" id="260" r:id="R4a870ba8ea314d3b"/>
    <p:sldId xmlns:r="http://schemas.openxmlformats.org/officeDocument/2006/relationships" id="261" r:id="Rb92ea5d30432401b"/>
    <p:sldId xmlns:r="http://schemas.openxmlformats.org/officeDocument/2006/relationships" id="262" r:id="Rcba91e682af044a8"/>
    <p:sldId xmlns:r="http://schemas.openxmlformats.org/officeDocument/2006/relationships" id="263" r:id="R7f744ee2aeca4b17"/>
    <p:sldId xmlns:r="http://schemas.openxmlformats.org/officeDocument/2006/relationships" id="264" r:id="R7cff251e1893442d"/>
    <p:sldId xmlns:r="http://schemas.openxmlformats.org/officeDocument/2006/relationships" id="265" r:id="R6ef1c67750dc42e5"/>
    <p:sldId xmlns:r="http://schemas.openxmlformats.org/officeDocument/2006/relationships" id="266" r:id="Rc9f0b99f8d784060"/>
    <p:sldId xmlns:r="http://schemas.openxmlformats.org/officeDocument/2006/relationships" id="267" r:id="Rc8646c501026448d"/>
    <p:sldId xmlns:r="http://schemas.openxmlformats.org/officeDocument/2006/relationships" id="268" r:id="R4e549dc655a941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e344df0e004a70" /><Relationship Type="http://schemas.openxmlformats.org/officeDocument/2006/relationships/slideMaster" Target="/ppt/slideMasters/slideMaster1.xml" Id="R9b1071c3a2904579" /><Relationship Type="http://schemas.openxmlformats.org/officeDocument/2006/relationships/notesMaster" Target="/ppt/notesMasters/notesMaster1.xml" Id="R6cd8cd2fce9d4560" /><Relationship Type="http://schemas.openxmlformats.org/officeDocument/2006/relationships/presProps" Target="/ppt/presProps.xml" Id="Rb3d1466a24d24774" /><Relationship Type="http://schemas.openxmlformats.org/officeDocument/2006/relationships/tableStyles" Target="/ppt/tableStyles.xml" Id="R1b5487e896c74d16" /><Relationship Type="http://schemas.openxmlformats.org/officeDocument/2006/relationships/slide" Target="/ppt/slides/slide1.xml" Id="R2f87abdbd4bf48b5" /><Relationship Type="http://schemas.openxmlformats.org/officeDocument/2006/relationships/slide" Target="/ppt/slides/slide2.xml" Id="R566701f0274b46b5" /><Relationship Type="http://schemas.openxmlformats.org/officeDocument/2006/relationships/slide" Target="/ppt/slides/slide3.xml" Id="R0bf6769e326b47b4" /><Relationship Type="http://schemas.openxmlformats.org/officeDocument/2006/relationships/slide" Target="/ppt/slides/slide4.xml" Id="R6594ee622fca40c4" /><Relationship Type="http://schemas.openxmlformats.org/officeDocument/2006/relationships/slide" Target="/ppt/slides/slide5.xml" Id="R4a870ba8ea314d3b" /><Relationship Type="http://schemas.openxmlformats.org/officeDocument/2006/relationships/slide" Target="/ppt/slides/slide6.xml" Id="Rb92ea5d30432401b" /><Relationship Type="http://schemas.openxmlformats.org/officeDocument/2006/relationships/slide" Target="/ppt/slides/slide7.xml" Id="Rcba91e682af044a8" /><Relationship Type="http://schemas.openxmlformats.org/officeDocument/2006/relationships/slide" Target="/ppt/slides/slide8.xml" Id="R7f744ee2aeca4b17" /><Relationship Type="http://schemas.openxmlformats.org/officeDocument/2006/relationships/slide" Target="/ppt/slides/slide9.xml" Id="R7cff251e1893442d" /><Relationship Type="http://schemas.openxmlformats.org/officeDocument/2006/relationships/slide" Target="/ppt/slides/slide10.xml" Id="R6ef1c67750dc42e5" /><Relationship Type="http://schemas.openxmlformats.org/officeDocument/2006/relationships/slide" Target="/ppt/slides/slide11.xml" Id="Rc9f0b99f8d784060" /><Relationship Type="http://schemas.openxmlformats.org/officeDocument/2006/relationships/slide" Target="/ppt/slides/slide12.xml" Id="Rc8646c501026448d" /><Relationship Type="http://schemas.openxmlformats.org/officeDocument/2006/relationships/slide" Target="/ppt/slides/slide13.xml" Id="R4e549dc655a941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07e8017bbc4f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b7df80de9745d2" /><Relationship Type="http://schemas.openxmlformats.org/officeDocument/2006/relationships/notesMaster" Target="/ppt/notesMasters/notesMaster1.xml" Id="R12b20a2d50454b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6623e877c24410" /><Relationship Type="http://schemas.openxmlformats.org/officeDocument/2006/relationships/notesMaster" Target="/ppt/notesMasters/notesMaster1.xml" Id="Rd0333b117e5e4e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29d91280c406a" /><Relationship Type="http://schemas.openxmlformats.org/officeDocument/2006/relationships/notesMaster" Target="/ppt/notesMasters/notesMaster1.xml" Id="R9523e7875f6141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14ad0894694282" /><Relationship Type="http://schemas.openxmlformats.org/officeDocument/2006/relationships/notesMaster" Target="/ppt/notesMasters/notesMaster1.xml" Id="R61962b72947744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7de65a150e451a" /><Relationship Type="http://schemas.openxmlformats.org/officeDocument/2006/relationships/notesMaster" Target="/ppt/notesMasters/notesMaster1.xml" Id="Rad2281b9b7c740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b3384db7a941e5" /><Relationship Type="http://schemas.openxmlformats.org/officeDocument/2006/relationships/notesMaster" Target="/ppt/notesMasters/notesMaster1.xml" Id="R539026164c2e4a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668e89080e452f" /><Relationship Type="http://schemas.openxmlformats.org/officeDocument/2006/relationships/notesMaster" Target="/ppt/notesMasters/notesMaster1.xml" Id="R59dbf9f5eec740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159ad9385a4559" /><Relationship Type="http://schemas.openxmlformats.org/officeDocument/2006/relationships/notesMaster" Target="/ppt/notesMasters/notesMaster1.xml" Id="Rd98ae8d0c49c4c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24275713354332" /><Relationship Type="http://schemas.openxmlformats.org/officeDocument/2006/relationships/notesMaster" Target="/ppt/notesMasters/notesMaster1.xml" Id="Rc8cd00717e9b49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00326553964f7a" /><Relationship Type="http://schemas.openxmlformats.org/officeDocument/2006/relationships/notesMaster" Target="/ppt/notesMasters/notesMaster1.xml" Id="Rce4899d5d6e540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ff506e7f274eb8" /><Relationship Type="http://schemas.openxmlformats.org/officeDocument/2006/relationships/notesMaster" Target="/ppt/notesMasters/notesMaster1.xml" Id="R549f398405f94d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0812101c2c46f4" /><Relationship Type="http://schemas.openxmlformats.org/officeDocument/2006/relationships/notesMaster" Target="/ppt/notesMasters/notesMaster1.xml" Id="R5ab99f42d97544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a2bda271fe4575" /><Relationship Type="http://schemas.openxmlformats.org/officeDocument/2006/relationships/notesMaster" Target="/ppt/notesMasters/notesMaster1.xml" Id="Rec68db05f54745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asset: C:\laragon\www\sistema-pollos\public\images\youtube\miniatura-despacho-mayorista-base.png</a:t>
            </a:r>
          </a:p>
          <a:p xmlns:a="http://schemas.openxmlformats.org/drawingml/2006/main">
            <a:r>
              <a:t>- Brand icon: C:\laragon\www\sistema-pollos\public\icons\icon-512.png</a:t>
            </a:r>
          </a:p>
          <a:p xmlns:a="http://schemas.openxmlformats.org/drawingml/2006/main">
            <a:r>
              <a:t>- Authorship and contact supplied directly by Gustavo Noriega.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C:/laragon/www/sistema-pollos/routes/web.php</a:t>
            </a:r>
          </a:p>
          <a:p xmlns:a="http://schemas.openxmlformats.org/drawingml/2006/main">
            <a:r>
              <a:t>- C:/laragon/www/sistema-pollos/config/access_modules.php</a:t>
            </a:r>
          </a:p>
          <a:p xmlns:a="http://schemas.openxmlformats.org/drawingml/2006/main">
            <a:r>
              <a:t>- Narrative synthesis based on verified operational, dispatch, finance, and reporting modules.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C:/laragon/www/sistema-pollos/routes/web.php</a:t>
            </a:r>
          </a:p>
          <a:p xmlns:a="http://schemas.openxmlformats.org/drawingml/2006/main">
            <a:r>
              <a:t>- C:/laragon/www/sistema-pollos/config/access_modules.php</a:t>
            </a:r>
          </a:p>
          <a:p xmlns:a="http://schemas.openxmlformats.org/drawingml/2006/main">
            <a:r>
              <a:t>- C:/laragon/www/sistema-pollos/database/seeders/DatabaseSeeder.php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Real UI capture: C:\laragon\www\sistema-pollos\tmp\presentacion_sistema_avicola_capturas\00_login.png</a:t>
            </a:r>
          </a:p>
          <a:p xmlns:a="http://schemas.openxmlformats.org/drawingml/2006/main">
            <a:r>
              <a:t>- C:/laragon/www/sistema-pollos/config/access_modules.php</a:t>
            </a:r>
          </a:p>
          <a:p xmlns:a="http://schemas.openxmlformats.org/drawingml/2006/main">
            <a:r>
              <a:t>- C:/laragon/www/sistema-pollos/docs/pwa-y-modo-kiosco.md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Real UI capture: C:/Users/Gustavo/Downloads/WhatsApp Image 2026-08-22 at 17.00.16.jpeg</a:t>
            </a:r>
          </a:p>
          <a:p xmlns:a="http://schemas.openxmlformats.org/drawingml/2006/main">
            <a:r>
              <a:t>- C:/laragon/www/sistema-pollos/app/Http/Requests/LiveChickenReception/UpdateLiveChickenReceptionConfigurationRequest.php</a:t>
            </a:r>
          </a:p>
          <a:p xmlns:a="http://schemas.openxmlformats.org/drawingml/2006/main">
            <a:r>
              <a:t>- C:/laragon/www/sistema-pollos/routes/web.php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Latest YouTube thumbnail: C:\laragon\www\sistema-pollos\public\images\youtube\miniatura-sistema-avicola-mayorista.png</a:t>
            </a:r>
          </a:p>
          <a:p xmlns:a="http://schemas.openxmlformats.org/drawingml/2006/main">
            <a:r>
              <a:t>- Latest YouTube thumbnail: C:\laragon\www\sistema-pollos\public\images\youtube\miniatura-sistema-avicola-minorista.png</a:t>
            </a:r>
          </a:p>
          <a:p xmlns:a="http://schemas.openxmlformats.org/drawingml/2006/main">
            <a:r>
              <a:t>- C:/laragon/www/sistema-pollos/routes/web.php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C:/laragon/www/sistema-pollos/routes/web.php</a:t>
            </a:r>
          </a:p>
          <a:p xmlns:a="http://schemas.openxmlformats.org/drawingml/2006/main">
            <a:r>
              <a:t>- C:/laragon/www/sistema-pollos/app/Services/ReportDataService.php</a:t>
            </a:r>
          </a:p>
          <a:p xmlns:a="http://schemas.openxmlformats.org/drawingml/2006/main">
            <a:r>
              <a:t>- C:/laragon/www/sistema-pollos/app/Http/Controllers/Api/V1/DailyDispatchTicketController.php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asset: C:\laragon\www\sistema-pollos\public\images\youtube\miniatura-despacho-minorista-peso-balanza.png</a:t>
            </a:r>
          </a:p>
          <a:p xmlns:a="http://schemas.openxmlformats.org/drawingml/2006/main">
            <a:r>
              <a:t>- C:/laragon/www/sistema-pollos/app/Http/Requests/Operation/UpdateRetailConfigurationRequest.php</a:t>
            </a:r>
          </a:p>
          <a:p xmlns:a="http://schemas.openxmlformats.org/drawingml/2006/main">
            <a:r>
              <a:t>- C:/laragon/www/sistema-pollos/app/Models/AjustePesoMayoristaDos.php</a:t>
            </a:r>
          </a:p>
          <a:p xmlns:a="http://schemas.openxmlformats.org/drawingml/2006/main">
            <a:r>
              <a:t>- C:/laragon/www/sistema-pollos/resources/views/precios-jornada.blade.php</a:t>
            </a:r>
          </a:p>
          <a:p xmlns:a="http://schemas.openxmlformats.org/drawingml/2006/main">
            <a:r>
              <a:t>- C:/laragon/www/sistema-pollos/app/Services/ReportPaletteService.php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C:/laragon/www/sistema-pollos/routes/web.php</a:t>
            </a:r>
          </a:p>
          <a:p xmlns:a="http://schemas.openxmlformats.org/drawingml/2006/main">
            <a:r>
              <a:t>- C:/laragon/www/sistema-pollos/docs/finanzas.md</a:t>
            </a:r>
          </a:p>
          <a:p xmlns:a="http://schemas.openxmlformats.org/drawingml/2006/main">
            <a:r>
              <a:t>- C:/laragon/www/sistema-pollos/docs/compras.md</a:t>
            </a:r>
          </a:p>
          <a:p xmlns:a="http://schemas.openxmlformats.org/drawingml/2006/main">
            <a:r>
              <a:t>- C:/laragon/www/sistema-pollos/app/Http/Controllers/Web/ReportController.php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C:/laragon/www/sistema-pollos/routes/web.php</a:t>
            </a:r>
          </a:p>
          <a:p xmlns:a="http://schemas.openxmlformats.org/drawingml/2006/main">
            <a:r>
              <a:t>- C:/laragon/www/sistema-pollos/database/seeders/DatabaseSeeder.php</a:t>
            </a:r>
          </a:p>
          <a:p xmlns:a="http://schemas.openxmlformats.org/drawingml/2006/main">
            <a:r>
              <a:t>- C:/laragon/www/sistema-pollos/resources/views/control-javas-inventario.blade.php</a:t>
            </a:r>
          </a:p>
          <a:p xmlns:a="http://schemas.openxmlformats.org/drawingml/2006/main">
            <a:r>
              <a:t>- C:/laragon/www/sistema-pollos/resources/views/control-javas-trazabilidad.blade.php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 preview: C:\laragon\www\sistema-pollos\tmp\pdfs\auditoria-imagenes\reporte-2026-08-21-pagina-1.png</a:t>
            </a:r>
          </a:p>
          <a:p xmlns:a="http://schemas.openxmlformats.org/drawingml/2006/main">
            <a:r>
              <a:t>- Report source PDF: C:/Users/Gustavo/Downloads/ventas-clientes-2026-08-21-2026-08-21.pdf</a:t>
            </a:r>
          </a:p>
          <a:p xmlns:a="http://schemas.openxmlformats.org/drawingml/2006/main">
            <a:r>
              <a:t>- C:/laragon/www/sistema-pollos/app/Http/Controllers/Web/ReportController.php</a:t>
            </a:r>
          </a:p>
          <a:p xmlns:a="http://schemas.openxmlformats.org/drawingml/2006/main">
            <a:r>
              <a:t>- C:/laragon/www/sistema-pollos/app/Services/ReportDataService.php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C:/laragon/www/sistema-pollos/tests/Feature/ReportPdfTest.php (validated fixture: Cliente Alfa/Beta, totals 125 kg, S/ 705, 30 birds, 3 containers, 10 kg return).</a:t>
            </a:r>
          </a:p>
          <a:p xmlns:a="http://schemas.openxmlformats.org/drawingml/2006/main">
            <a:r>
              <a:t>- C:/laragon/www/sistema-pollos/app/Services/ReportDataService.php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asset: C:\laragon\www\sistema-pollos\public\images\youtube\miniatura-despacho-minorista-base.png</a:t>
            </a:r>
          </a:p>
          <a:p xmlns:a="http://schemas.openxmlformats.org/drawingml/2006/main">
            <a:r>
              <a:t>- Brand icon: C:\laragon\www\sistema-pollos\public\icons\icon-512.png</a:t>
            </a:r>
          </a:p>
          <a:p xmlns:a="http://schemas.openxmlformats.org/drawingml/2006/main">
            <a:r>
              <a:t>- Authorship and contact supplied directly by Gustavo Noriega.</a:t>
            </a:r>
          </a:p>
          <a:p xmlns:a="http://schemas.openxmlformats.org/drawingml/2006/main">
            <a:r>
              <a:t>- Customization language based on verified configuration surfaces and implementation scope.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e70af726b40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82b3a0d463425d" /><Relationship Type="http://schemas.openxmlformats.org/officeDocument/2006/relationships/slideLayout" Target="/ppt/slideLayouts/slideLayout1.xml" Id="R8c17af048fcd45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17af048fcd45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2c1a1257347d1" /><Relationship Type="http://schemas.openxmlformats.org/officeDocument/2006/relationships/image" Target="/ppt/media/image.png" Id="R4d5caefe3e864ec5" /><Relationship Type="http://schemas.openxmlformats.org/officeDocument/2006/relationships/image" Target="/ppt/media/image2.png" Id="R2ae26034893e43b8" /><Relationship Type="http://schemas.openxmlformats.org/officeDocument/2006/relationships/notesSlide" Target="/ppt/notesSlides/notesSlide1.xml" Id="R1c9f0b56bb2441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9a0fb6e3241e2" /><Relationship Type="http://schemas.openxmlformats.org/officeDocument/2006/relationships/notesSlide" Target="/ppt/notesSlides/notesSlide2.xml" Id="R425fc1467dc04c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4a34591264f1e" /><Relationship Type="http://schemas.openxmlformats.org/officeDocument/2006/relationships/notesSlide" Target="/ppt/notesSlides/notesSlide3.xml" Id="Rf18225a1ebb946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8297f77964678" /><Relationship Type="http://schemas.openxmlformats.org/officeDocument/2006/relationships/image" Target="/ppt/media/image.jpeg" Id="R2d3096c6bbf34f51" /><Relationship Type="http://schemas.openxmlformats.org/officeDocument/2006/relationships/notesSlide" Target="/ppt/notesSlides/notesSlide4.xml" Id="Rbea9ea5c76a741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e72aa776f482e" /><Relationship Type="http://schemas.openxmlformats.org/officeDocument/2006/relationships/image" Target="/ppt/media/image2.jpeg" Id="Rbb9cbaa470cb4d4b" /><Relationship Type="http://schemas.openxmlformats.org/officeDocument/2006/relationships/notesSlide" Target="/ppt/notesSlides/notesSlide5.xml" Id="Re75273394d2841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45bb769a44c58" /><Relationship Type="http://schemas.openxmlformats.org/officeDocument/2006/relationships/image" Target="/ppt/media/image3.png" Id="R5711b4276a0647ef" /><Relationship Type="http://schemas.openxmlformats.org/officeDocument/2006/relationships/image" Target="/ppt/media/image4.png" Id="Rdc8ead3de79f410d" /><Relationship Type="http://schemas.openxmlformats.org/officeDocument/2006/relationships/notesSlide" Target="/ppt/notesSlides/notesSlide6.xml" Id="R56a71e85d7cb4c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eba441f304b1a" /><Relationship Type="http://schemas.openxmlformats.org/officeDocument/2006/relationships/notesSlide" Target="/ppt/notesSlides/notesSlide7.xml" Id="R392328b9e3af44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c8efa7b6e4310" /><Relationship Type="http://schemas.openxmlformats.org/officeDocument/2006/relationships/image" Target="/ppt/media/image5.png" Id="R3825fe825f7d47d2" /><Relationship Type="http://schemas.openxmlformats.org/officeDocument/2006/relationships/notesSlide" Target="/ppt/notesSlides/notesSlide8.xml" Id="Rf516c7c7271747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bddfa55504dd2" /><Relationship Type="http://schemas.openxmlformats.org/officeDocument/2006/relationships/notesSlide" Target="/ppt/notesSlides/notesSlide9.xml" Id="R15830239c3194d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e33bebcb74768" /><Relationship Type="http://schemas.openxmlformats.org/officeDocument/2006/relationships/notesSlide" Target="/ppt/notesSlides/notesSlide10.xml" Id="R9df5674f6c384f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48db8830642eb" /><Relationship Type="http://schemas.openxmlformats.org/officeDocument/2006/relationships/notesSlide" Target="/ppt/notesSlides/notesSlide11.xml" Id="R0e7ebf193a7945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e6916d1054436" /><Relationship Type="http://schemas.openxmlformats.org/officeDocument/2006/relationships/chart" Target="/ppt/slides/charts/chart1.xml" Id="R26e532067ef244f7" /><Relationship Type="http://schemas.openxmlformats.org/officeDocument/2006/relationships/notesSlide" Target="/ppt/notesSlides/notesSlide12.xml" Id="Rf700f966a9c546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371f09309470a" /><Relationship Type="http://schemas.openxmlformats.org/officeDocument/2006/relationships/image" Target="/ppt/media/image6.png" Id="R225aadc94f484a72" /><Relationship Type="http://schemas.openxmlformats.org/officeDocument/2006/relationships/image" Target="/ppt/media/image7.png" Id="R97c5c5d64ed94eff" /><Relationship Type="http://schemas.openxmlformats.org/officeDocument/2006/relationships/notesSlide" Target="/ppt/notesSlides/notesSlide13.xml" Id="R054db985e3c04a8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Peso neto</c:v>
          </c:tx>
          <c:spPr>
            <a:solidFill xmlns:a="http://schemas.openxmlformats.org/drawingml/2006/main">
              <a:srgbClr val="18B9D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2AA6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8B9D4"/>
              </a:solidFill>
            </c:spPr>
          </c:dPt>
          <c:cat>
            <c:strLit>
              <c:ptCount val="2"/>
              <c:pt idx="0">
                <c:v>Cliente Alfa</c:v>
              </c:pt>
              <c:pt idx="1">
                <c:v>Cliente Beta</c:v>
              </c:pt>
            </c:strLit>
          </c:cat>
          <c:val>
            <c:numLit>
              <c:formatCode>General</c:formatCode>
              <c:ptCount val="2"/>
              <c:pt idx="0">
                <c:v>80</c:v>
              </c:pt>
              <c:pt idx="1">
                <c:v>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A1E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BC7C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A1E2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7F5E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A6C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7F5EF"/>
          </a:solidFill>
          <a:prstDash val="solid"/>
        </a:ln>
      </c:spPr>
    </c:plotArea>
    <c:plotVisOnly val="1"/>
  </c:chart>
  <c:spPr>
    <a:solidFill xmlns:a="http://schemas.openxmlformats.org/drawingml/2006/main">
      <a:srgbClr val="F7F5EF"/>
    </a:solidFill>
    <a:ln xmlns:a="http://schemas.openxmlformats.org/drawingml/2006/main" w="0">
      <a:solidFill>
        <a:srgbClr val="F7F5E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E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caefe3e864ec5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6EB7B3C9-FF1D-4127-ACF9-431B1219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26034893e43b8"/>
          <a:stretch xmlns:a="http://schemas.openxmlformats.org/drawingml/2006/main"/>
        </p:blipFill>
        <p:spPr>
          <a:xfrm xmlns:a="http://schemas.openxmlformats.org/drawingml/2006/main">
            <a:off x="609600" y="4762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</p:spPr>
      </p:pic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36B242E-7138-429F-90DB-F58D0020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PRESENTACIÓN COMERCIAL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AF32A0F-CD79-487C-AB5D-63FC2775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0A73A18-FAA2-4F94-82F1-5D6EAE47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AVÍCOLA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01CC829-F2DA-4448-AF7A-F3A342A6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400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integral desde la recepción hasta el reporte.</a:t>
            </a:r>
          </a:p>
        </p:txBody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E08B566A-37DC-44B4-A0A2-49017DC8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9D4"/>
          </a:solidFill>
          <a:ln xmlns:a="http://schemas.openxmlformats.org/drawingml/2006/main" w="0">
            <a:solidFill>
              <a:srgbClr val="18B9D4"/>
            </a:solidFill>
            <a:prstDash val="solid"/>
          </a:ln>
        </p:spPr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D40408A1-D7A9-4B08-BF7D-18B2180E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Creado y desarrollado por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4BC6FDB-FCA5-44B2-B12D-CD281582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Gustavo Noriega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F569EC15-66B6-4ABB-B828-76CA958E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WhatsApp  949 421 023</a:t>
            </a:r>
          </a:p>
        </p:txBody>
      </p:sp>
    </p:spTree>
    <p:extLst>
      <p:ext uri="{BB962C8B-B14F-4D97-AF65-F5344CB8AC3E}">
        <p14:creationId xmlns:p14="http://schemas.microsoft.com/office/powerpoint/2010/main" val="1784970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D177A353-B3E5-4997-B52D-D45C5A90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LA OPORTUNIDAD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0FB6449F-D5CC-4063-8FAE-31F44A22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Una operación. Una fuente de verdad.</a:t>
            </a:r>
          </a:p>
        </p:txBody>
      </p:sp>
      <p:sp>
        <p:nvSpPr>
          <p:cNvPr id="3" name="shape-14">
            <a:extLst xmlns:a="http://schemas.openxmlformats.org/drawingml/2006/main">
              <a:ext uri="{FF2B5EF4-FFF2-40B4-BE49-F238E27FC236}">
                <a16:creationId xmlns:a16="http://schemas.microsoft.com/office/drawing/2014/main" id="{DB0339E6-9915-41DE-A39E-C6AA591F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0248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4" name="shape-15">
            <a:extLst xmlns:a="http://schemas.openxmlformats.org/drawingml/2006/main">
              <a:ext uri="{FF2B5EF4-FFF2-40B4-BE49-F238E27FC236}">
                <a16:creationId xmlns:a16="http://schemas.microsoft.com/office/drawing/2014/main" id="{311899C9-A5AE-4295-B3D2-14D88EDA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28575">
            <a:solidFill>
              <a:srgbClr val="0A1E22"/>
            </a:solidFill>
            <a:prstDash val="solid"/>
          </a:ln>
        </p:spPr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E8B62572-CE0A-4988-B696-102AA9FC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PESAR</a:t>
            </a:r>
          </a:p>
        </p:txBody>
      </p:sp>
      <p:sp>
        <p:nvSpPr>
          <p:cNvPr id="6" name="text-17">
            <a:extLst xmlns:a="http://schemas.openxmlformats.org/drawingml/2006/main">
              <a:ext uri="{FF2B5EF4-FFF2-40B4-BE49-F238E27FC236}">
                <a16:creationId xmlns:a16="http://schemas.microsoft.com/office/drawing/2014/main" id="{032953E8-3CCB-48F2-B068-79E2E6B9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Bruto, tara y neto</a:t>
            </a:r>
          </a:p>
        </p:txBody>
      </p:sp>
      <p:sp>
        <p:nvSpPr>
          <p:cNvPr id="7" name="shape-18">
            <a:extLst xmlns:a="http://schemas.openxmlformats.org/drawingml/2006/main">
              <a:ext uri="{FF2B5EF4-FFF2-40B4-BE49-F238E27FC236}">
                <a16:creationId xmlns:a16="http://schemas.microsoft.com/office/drawing/2014/main" id="{84822276-8412-4A06-807B-E5BF7E4D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9D4"/>
          </a:solidFill>
          <a:ln xmlns:a="http://schemas.openxmlformats.org/drawingml/2006/main" w="28575">
            <a:solidFill>
              <a:srgbClr val="0A1E22"/>
            </a:solidFill>
            <a:prstDash val="solid"/>
          </a:ln>
        </p:spPr>
      </p:sp>
      <p:sp>
        <p:nvSpPr>
          <p:cNvPr id="8" name="text-19">
            <a:extLst xmlns:a="http://schemas.openxmlformats.org/drawingml/2006/main">
              <a:ext uri="{FF2B5EF4-FFF2-40B4-BE49-F238E27FC236}">
                <a16:creationId xmlns:a16="http://schemas.microsoft.com/office/drawing/2014/main" id="{B2D32E7F-B05F-4980-A62F-73F5E638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VENDER</a:t>
            </a:r>
          </a:p>
        </p:txBody>
      </p:sp>
      <p:sp>
        <p:nvSpPr>
          <p:cNvPr id="9" name="text-20">
            <a:extLst xmlns:a="http://schemas.openxmlformats.org/drawingml/2006/main">
              <a:ext uri="{FF2B5EF4-FFF2-40B4-BE49-F238E27FC236}">
                <a16:creationId xmlns:a16="http://schemas.microsoft.com/office/drawing/2014/main" id="{EFD9C80C-A104-4621-B7BA-52F657AA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528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Cliente, precio y ticket</a:t>
            </a:r>
          </a:p>
        </p:txBody>
      </p:sp>
      <p:sp>
        <p:nvSpPr>
          <p:cNvPr id="10" name="shape-21">
            <a:extLst xmlns:a="http://schemas.openxmlformats.org/drawingml/2006/main">
              <a:ext uri="{FF2B5EF4-FFF2-40B4-BE49-F238E27FC236}">
                <a16:creationId xmlns:a16="http://schemas.microsoft.com/office/drawing/2014/main" id="{279DAAB6-3133-4C48-BB55-B0DF66D7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28575">
            <a:solidFill>
              <a:srgbClr val="0A1E22"/>
            </a:solidFill>
            <a:prstDash val="solid"/>
          </a:ln>
        </p:spPr>
      </p:sp>
      <p:sp>
        <p:nvSpPr>
          <p:cNvPr id="11" name="text-22">
            <a:extLst xmlns:a="http://schemas.openxmlformats.org/drawingml/2006/main">
              <a:ext uri="{FF2B5EF4-FFF2-40B4-BE49-F238E27FC236}">
                <a16:creationId xmlns:a16="http://schemas.microsoft.com/office/drawing/2014/main" id="{EB6504FA-56DD-4E30-9FFA-C226B0A8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DESPACHAR</a:t>
            </a:r>
          </a:p>
        </p:txBody>
      </p:sp>
      <p:sp>
        <p:nvSpPr>
          <p:cNvPr id="12" name="text-23">
            <a:extLst xmlns:a="http://schemas.openxmlformats.org/drawingml/2006/main">
              <a:ext uri="{FF2B5EF4-FFF2-40B4-BE49-F238E27FC236}">
                <a16:creationId xmlns:a16="http://schemas.microsoft.com/office/drawing/2014/main" id="{B5A122F0-AF77-41F9-8119-44F992D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Producto, destino y entrega</a:t>
            </a:r>
          </a:p>
        </p:txBody>
      </p:sp>
      <p:sp>
        <p:nvSpPr>
          <p:cNvPr id="13" name="shape-24">
            <a:extLst xmlns:a="http://schemas.openxmlformats.org/drawingml/2006/main">
              <a:ext uri="{FF2B5EF4-FFF2-40B4-BE49-F238E27FC236}">
                <a16:creationId xmlns:a16="http://schemas.microsoft.com/office/drawing/2014/main" id="{AB21A3B8-104B-4550-A640-73987690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9D4"/>
          </a:solidFill>
          <a:ln xmlns:a="http://schemas.openxmlformats.org/drawingml/2006/main" w="28575">
            <a:solidFill>
              <a:srgbClr val="0A1E22"/>
            </a:solidFill>
            <a:prstDash val="solid"/>
          </a:ln>
        </p:spPr>
      </p:sp>
      <p:sp>
        <p:nvSpPr>
          <p:cNvPr id="14" name="text-25">
            <a:extLst xmlns:a="http://schemas.openxmlformats.org/drawingml/2006/main">
              <a:ext uri="{FF2B5EF4-FFF2-40B4-BE49-F238E27FC236}">
                <a16:creationId xmlns:a16="http://schemas.microsoft.com/office/drawing/2014/main" id="{B9EDFB0E-3D41-49CF-BEAF-7334F71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COBRAR</a:t>
            </a:r>
          </a:p>
        </p:txBody>
      </p:sp>
      <p:sp>
        <p:nvSpPr>
          <p:cNvPr id="15" name="text-26">
            <a:extLst xmlns:a="http://schemas.openxmlformats.org/drawingml/2006/main">
              <a:ext uri="{FF2B5EF4-FFF2-40B4-BE49-F238E27FC236}">
                <a16:creationId xmlns:a16="http://schemas.microsoft.com/office/drawing/2014/main" id="{1FBF7102-7032-4AC7-B3F1-74060E74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528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Caja, cartera y pagos</a:t>
            </a:r>
          </a:p>
        </p:txBody>
      </p:sp>
      <p:sp>
        <p:nvSpPr>
          <p:cNvPr id="16" name="text-27">
            <a:extLst xmlns:a="http://schemas.openxmlformats.org/drawingml/2006/main">
              <a:ext uri="{FF2B5EF4-FFF2-40B4-BE49-F238E27FC236}">
                <a16:creationId xmlns:a16="http://schemas.microsoft.com/office/drawing/2014/main" id="{2E456CD4-79BE-4506-9F59-724C363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Una sola fuente de información reduce pasos manuales y permite seguir la operación desde el peso hasta el saldo.</a:t>
            </a:r>
          </a:p>
        </p:txBody>
      </p:sp>
      <p:sp>
        <p:nvSpPr>
          <p:cNvPr id="17" name="shape-28">
            <a:extLst xmlns:a="http://schemas.openxmlformats.org/drawingml/2006/main">
              <a:ext uri="{FF2B5EF4-FFF2-40B4-BE49-F238E27FC236}">
                <a16:creationId xmlns:a16="http://schemas.microsoft.com/office/drawing/2014/main" id="{02126837-8629-4255-8C09-6E3B1528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18" name="text-29">
            <a:extLst xmlns:a="http://schemas.openxmlformats.org/drawingml/2006/main">
              <a:ext uri="{FF2B5EF4-FFF2-40B4-BE49-F238E27FC236}">
                <a16:creationId xmlns:a16="http://schemas.microsoft.com/office/drawing/2014/main" id="{5FF35911-A047-4C3C-884F-A01C3AE8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19" name="text-30">
            <a:extLst xmlns:a="http://schemas.openxmlformats.org/drawingml/2006/main">
              <a:ext uri="{FF2B5EF4-FFF2-40B4-BE49-F238E27FC236}">
                <a16:creationId xmlns:a16="http://schemas.microsoft.com/office/drawing/2014/main" id="{4E3B0149-CAC6-4289-8074-DD5F49CB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6071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31">
            <a:extLst xmlns:a="http://schemas.openxmlformats.org/drawingml/2006/main">
              <a:ext uri="{FF2B5EF4-FFF2-40B4-BE49-F238E27FC236}">
                <a16:creationId xmlns:a16="http://schemas.microsoft.com/office/drawing/2014/main" id="{B9435531-7B42-41A9-A74B-213D78C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MAPA DEL SISTEMA</a:t>
            </a:r>
          </a:p>
        </p:txBody>
      </p:sp>
      <p:sp>
        <p:nvSpPr>
          <p:cNvPr id="2" name="text-32">
            <a:extLst xmlns:a="http://schemas.openxmlformats.org/drawingml/2006/main">
              <a:ext uri="{FF2B5EF4-FFF2-40B4-BE49-F238E27FC236}">
                <a16:creationId xmlns:a16="http://schemas.microsoft.com/office/drawing/2014/main" id="{C2E9CD36-3E23-4B32-8047-39C71416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Cinco áreas trabajan sobre la misma operación</a:t>
            </a:r>
          </a:p>
        </p:txBody>
      </p:sp>
      <p:sp>
        <p:nvSpPr>
          <p:cNvPr id="3" name="shape-33">
            <a:extLst xmlns:a="http://schemas.openxmlformats.org/drawingml/2006/main">
              <a:ext uri="{FF2B5EF4-FFF2-40B4-BE49-F238E27FC236}">
                <a16:creationId xmlns:a16="http://schemas.microsoft.com/office/drawing/2014/main" id="{B97B31E3-35B6-4E72-B90C-572A543A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88935">
            <a:off x="2035208" y="2747963"/>
            <a:ext cx="416870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4" name="shape-34">
            <a:extLst xmlns:a="http://schemas.openxmlformats.org/drawingml/2006/main">
              <a:ext uri="{FF2B5EF4-FFF2-40B4-BE49-F238E27FC236}">
                <a16:creationId xmlns:a16="http://schemas.microsoft.com/office/drawing/2014/main" id="{F56A7C91-3E5C-4EBD-9867-D84F431B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11065">
            <a:off x="5988083" y="2747963"/>
            <a:ext cx="416870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5" name="shape-35">
            <a:extLst xmlns:a="http://schemas.openxmlformats.org/drawingml/2006/main">
              <a:ext uri="{FF2B5EF4-FFF2-40B4-BE49-F238E27FC236}">
                <a16:creationId xmlns:a16="http://schemas.microsoft.com/office/drawing/2014/main" id="{E7AD2128-985B-4FA7-90E9-5185C95E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21102">
            <a:off x="1972731" y="4248150"/>
            <a:ext cx="4293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6" name="shape-36">
            <a:extLst xmlns:a="http://schemas.openxmlformats.org/drawingml/2006/main">
              <a:ext uri="{FF2B5EF4-FFF2-40B4-BE49-F238E27FC236}">
                <a16:creationId xmlns:a16="http://schemas.microsoft.com/office/drawing/2014/main" id="{4A6DB347-3258-444D-A37A-9EBE7695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78898">
            <a:off x="5925606" y="4248150"/>
            <a:ext cx="4293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7" name="shape-37">
            <a:extLst xmlns:a="http://schemas.openxmlformats.org/drawingml/2006/main">
              <a:ext uri="{FF2B5EF4-FFF2-40B4-BE49-F238E27FC236}">
                <a16:creationId xmlns:a16="http://schemas.microsoft.com/office/drawing/2014/main" id="{58E8BF77-5B2D-46FC-A4B9-106A4C6E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67300" y="443865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8" name="shape-38">
            <a:extLst xmlns:a="http://schemas.openxmlformats.org/drawingml/2006/main">
              <a:ext uri="{FF2B5EF4-FFF2-40B4-BE49-F238E27FC236}">
                <a16:creationId xmlns:a16="http://schemas.microsoft.com/office/drawing/2014/main" id="{6BCB1A6E-B6EB-4012-A720-FEE94F4A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2286000" cy="1809750"/>
          </a:xfrm>
          <a:prstGeom xmlns:a="http://schemas.openxmlformats.org/drawingml/2006/main" prst="roundRect">
            <a:avLst>
              <a:gd name="adj" fmla="val 18947"/>
            </a:avLst>
          </a:prstGeom>
          <a:solidFill xmlns:a="http://schemas.openxmlformats.org/drawingml/2006/main">
            <a:srgbClr val="0A1E22"/>
          </a:solidFill>
          <a:ln xmlns:a="http://schemas.openxmlformats.org/drawingml/2006/main" w="0">
            <a:solidFill>
              <a:srgbClr val="0A1E22"/>
            </a:solidFill>
            <a:prstDash val="solid"/>
          </a:ln>
        </p:spPr>
      </p:sp>
      <p:sp>
        <p:nvSpPr>
          <p:cNvPr id="9" name="text-39">
            <a:extLst xmlns:a="http://schemas.openxmlformats.org/drawingml/2006/main">
              <a:ext uri="{FF2B5EF4-FFF2-40B4-BE49-F238E27FC236}">
                <a16:creationId xmlns:a16="http://schemas.microsoft.com/office/drawing/2014/main" id="{E8B2C25F-6112-4BD9-BDF7-E3272110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05125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AVÍCOLA</a:t>
            </a:r>
          </a:p>
        </p:txBody>
      </p:sp>
      <p:sp>
        <p:nvSpPr>
          <p:cNvPr id="10" name="shape-40">
            <a:extLst xmlns:a="http://schemas.openxmlformats.org/drawingml/2006/main">
              <a:ext uri="{FF2B5EF4-FFF2-40B4-BE49-F238E27FC236}">
                <a16:creationId xmlns:a16="http://schemas.microsoft.com/office/drawing/2014/main" id="{88C988E3-BCD6-408D-AD49-755F8F2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952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11" name="shape-41">
            <a:extLst xmlns:a="http://schemas.openxmlformats.org/drawingml/2006/main">
              <a:ext uri="{FF2B5EF4-FFF2-40B4-BE49-F238E27FC236}">
                <a16:creationId xmlns:a16="http://schemas.microsoft.com/office/drawing/2014/main" id="{06373140-CBDD-4C7F-8930-232FDB18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AA6B"/>
          </a:solidFill>
          <a:ln xmlns:a="http://schemas.openxmlformats.org/drawingml/2006/main" w="0">
            <a:solidFill>
              <a:srgbClr val="32AA6B"/>
            </a:solidFill>
            <a:prstDash val="solid"/>
          </a:ln>
        </p:spPr>
      </p:sp>
      <p:sp>
        <p:nvSpPr>
          <p:cNvPr id="12" name="text-42">
            <a:extLst xmlns:a="http://schemas.openxmlformats.org/drawingml/2006/main">
              <a:ext uri="{FF2B5EF4-FFF2-40B4-BE49-F238E27FC236}">
                <a16:creationId xmlns:a16="http://schemas.microsoft.com/office/drawing/2014/main" id="{4168CFFA-E1F6-4C04-AB47-CC72C5CA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85925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Operación</a:t>
            </a:r>
          </a:p>
        </p:txBody>
      </p:sp>
      <p:sp>
        <p:nvSpPr>
          <p:cNvPr id="13" name="text-43">
            <a:extLst xmlns:a="http://schemas.openxmlformats.org/drawingml/2006/main">
              <a:ext uri="{FF2B5EF4-FFF2-40B4-BE49-F238E27FC236}">
                <a16:creationId xmlns:a16="http://schemas.microsoft.com/office/drawing/2014/main" id="{57497243-FFF0-4F05-860E-D72B7C28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Recepción, pesaje</a:t>
            </a:r>
          </a:p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y jornada</a:t>
            </a:r>
          </a:p>
        </p:txBody>
      </p:sp>
      <p:sp>
        <p:nvSpPr>
          <p:cNvPr id="14" name="shape-44">
            <a:extLst xmlns:a="http://schemas.openxmlformats.org/drawingml/2006/main">
              <a:ext uri="{FF2B5EF4-FFF2-40B4-BE49-F238E27FC236}">
                <a16:creationId xmlns:a16="http://schemas.microsoft.com/office/drawing/2014/main" id="{3E58AD98-855C-4488-8AA5-FB2C02A4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952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15" name="shape-45">
            <a:extLst xmlns:a="http://schemas.openxmlformats.org/drawingml/2006/main">
              <a:ext uri="{FF2B5EF4-FFF2-40B4-BE49-F238E27FC236}">
                <a16:creationId xmlns:a16="http://schemas.microsoft.com/office/drawing/2014/main" id="{3DF5A7C9-714E-4283-B51B-E9B05057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6" name="text-46">
            <a:extLst xmlns:a="http://schemas.openxmlformats.org/drawingml/2006/main">
              <a:ext uri="{FF2B5EF4-FFF2-40B4-BE49-F238E27FC236}">
                <a16:creationId xmlns:a16="http://schemas.microsoft.com/office/drawing/2014/main" id="{4F4B9A64-0864-4869-A328-AF43C03A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85925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Ventas</a:t>
            </a:r>
          </a:p>
        </p:txBody>
      </p:sp>
      <p:sp>
        <p:nvSpPr>
          <p:cNvPr id="17" name="text-47">
            <a:extLst xmlns:a="http://schemas.openxmlformats.org/drawingml/2006/main">
              <a:ext uri="{FF2B5EF4-FFF2-40B4-BE49-F238E27FC236}">
                <a16:creationId xmlns:a16="http://schemas.microsoft.com/office/drawing/2014/main" id="{B14199AA-068B-4FA6-8FA3-3076880F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955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Mayorista, minorista</a:t>
            </a:r>
          </a:p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y precios</a:t>
            </a:r>
          </a:p>
        </p:txBody>
      </p:sp>
      <p:sp>
        <p:nvSpPr>
          <p:cNvPr id="18" name="shape-48">
            <a:extLst xmlns:a="http://schemas.openxmlformats.org/drawingml/2006/main">
              <a:ext uri="{FF2B5EF4-FFF2-40B4-BE49-F238E27FC236}">
                <a16:creationId xmlns:a16="http://schemas.microsoft.com/office/drawing/2014/main" id="{1B37A15D-2A2E-4BFD-A025-C4253BDD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952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19" name="shape-49">
            <a:extLst xmlns:a="http://schemas.openxmlformats.org/drawingml/2006/main">
              <a:ext uri="{FF2B5EF4-FFF2-40B4-BE49-F238E27FC236}">
                <a16:creationId xmlns:a16="http://schemas.microsoft.com/office/drawing/2014/main" id="{0C31C917-9865-4791-9D0C-87C0BF99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9D4"/>
          </a:solidFill>
          <a:ln xmlns:a="http://schemas.openxmlformats.org/drawingml/2006/main" w="0">
            <a:solidFill>
              <a:srgbClr val="18B9D4"/>
            </a:solidFill>
            <a:prstDash val="solid"/>
          </a:ln>
        </p:spPr>
      </p:sp>
      <p:sp>
        <p:nvSpPr>
          <p:cNvPr id="20" name="text-50">
            <a:extLst xmlns:a="http://schemas.openxmlformats.org/drawingml/2006/main">
              <a:ext uri="{FF2B5EF4-FFF2-40B4-BE49-F238E27FC236}">
                <a16:creationId xmlns:a16="http://schemas.microsoft.com/office/drawing/2014/main" id="{82D780AD-67F7-42DC-BB56-845FE239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Finanzas</a:t>
            </a:r>
          </a:p>
        </p:txBody>
      </p:sp>
      <p:sp>
        <p:nvSpPr>
          <p:cNvPr id="21" name="text-51">
            <a:extLst xmlns:a="http://schemas.openxmlformats.org/drawingml/2006/main">
              <a:ext uri="{FF2B5EF4-FFF2-40B4-BE49-F238E27FC236}">
                <a16:creationId xmlns:a16="http://schemas.microsoft.com/office/drawing/2014/main" id="{45F3DEF7-1A79-41AC-A842-6FDFB7C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Compras, caja, cartera</a:t>
            </a:r>
          </a:p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y pagos</a:t>
            </a:r>
          </a:p>
        </p:txBody>
      </p:sp>
      <p:sp>
        <p:nvSpPr>
          <p:cNvPr id="22" name="shape-52">
            <a:extLst xmlns:a="http://schemas.openxmlformats.org/drawingml/2006/main">
              <a:ext uri="{FF2B5EF4-FFF2-40B4-BE49-F238E27FC236}">
                <a16:creationId xmlns:a16="http://schemas.microsoft.com/office/drawing/2014/main" id="{8DD32DA5-D7D2-4865-9C8E-DDB7C68F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952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23" name="shape-53">
            <a:extLst xmlns:a="http://schemas.openxmlformats.org/drawingml/2006/main">
              <a:ext uri="{FF2B5EF4-FFF2-40B4-BE49-F238E27FC236}">
                <a16:creationId xmlns:a16="http://schemas.microsoft.com/office/drawing/2014/main" id="{CA728DE4-3495-4743-89E4-2B972668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4" name="text-54">
            <a:extLst xmlns:a="http://schemas.openxmlformats.org/drawingml/2006/main">
              <a:ext uri="{FF2B5EF4-FFF2-40B4-BE49-F238E27FC236}">
                <a16:creationId xmlns:a16="http://schemas.microsoft.com/office/drawing/2014/main" id="{FE2F35F0-9DAB-46DB-BFF0-6DC44C03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863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Logística</a:t>
            </a:r>
          </a:p>
        </p:txBody>
      </p:sp>
      <p:sp>
        <p:nvSpPr>
          <p:cNvPr id="25" name="text-55">
            <a:extLst xmlns:a="http://schemas.openxmlformats.org/drawingml/2006/main">
              <a:ext uri="{FF2B5EF4-FFF2-40B4-BE49-F238E27FC236}">
                <a16:creationId xmlns:a16="http://schemas.microsoft.com/office/drawing/2014/main" id="{6160696E-7148-4791-9D0A-ED021C6E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95875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Despacho, flota</a:t>
            </a:r>
          </a:p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y destinos</a:t>
            </a:r>
          </a:p>
        </p:txBody>
      </p:sp>
      <p:sp>
        <p:nvSpPr>
          <p:cNvPr id="26" name="shape-56">
            <a:extLst xmlns:a="http://schemas.openxmlformats.org/drawingml/2006/main">
              <a:ext uri="{FF2B5EF4-FFF2-40B4-BE49-F238E27FC236}">
                <a16:creationId xmlns:a16="http://schemas.microsoft.com/office/drawing/2014/main" id="{FAA2CF72-ABC9-41A9-BDB3-FE26D86C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53000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27" name="shape-57">
            <a:extLst xmlns:a="http://schemas.openxmlformats.org/drawingml/2006/main">
              <a:ext uri="{FF2B5EF4-FFF2-40B4-BE49-F238E27FC236}">
                <a16:creationId xmlns:a16="http://schemas.microsoft.com/office/drawing/2014/main" id="{15802185-2183-46A8-BEAC-6AEF84FB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53000"/>
            <a:ext cx="952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AA6B"/>
          </a:solidFill>
          <a:ln xmlns:a="http://schemas.openxmlformats.org/drawingml/2006/main" w="0">
            <a:solidFill>
              <a:srgbClr val="32AA6B"/>
            </a:solidFill>
            <a:prstDash val="solid"/>
          </a:ln>
        </p:spPr>
      </p:sp>
      <p:sp>
        <p:nvSpPr>
          <p:cNvPr id="28" name="text-58">
            <a:extLst xmlns:a="http://schemas.openxmlformats.org/drawingml/2006/main">
              <a:ext uri="{FF2B5EF4-FFF2-40B4-BE49-F238E27FC236}">
                <a16:creationId xmlns:a16="http://schemas.microsoft.com/office/drawing/2014/main" id="{B7005AA8-E4E7-413E-824C-AE4FA19F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1625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9" name="text-59">
            <a:extLst xmlns:a="http://schemas.openxmlformats.org/drawingml/2006/main">
              <a:ext uri="{FF2B5EF4-FFF2-40B4-BE49-F238E27FC236}">
                <a16:creationId xmlns:a16="http://schemas.microsoft.com/office/drawing/2014/main" id="{7DAE42E5-9141-4BCE-A227-580C0F8D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57212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Javas, roles y reportes</a:t>
            </a:r>
          </a:p>
        </p:txBody>
      </p:sp>
      <p:sp>
        <p:nvSpPr>
          <p:cNvPr id="30" name="shape-60">
            <a:extLst xmlns:a="http://schemas.openxmlformats.org/drawingml/2006/main">
              <a:ext uri="{FF2B5EF4-FFF2-40B4-BE49-F238E27FC236}">
                <a16:creationId xmlns:a16="http://schemas.microsoft.com/office/drawing/2014/main" id="{C47A6F0D-3B11-4021-A136-F5A44A11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31" name="text-61">
            <a:extLst xmlns:a="http://schemas.openxmlformats.org/drawingml/2006/main">
              <a:ext uri="{FF2B5EF4-FFF2-40B4-BE49-F238E27FC236}">
                <a16:creationId xmlns:a16="http://schemas.microsoft.com/office/drawing/2014/main" id="{4F58BA40-05C9-43C3-AE0F-AE2D89E0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32" name="text-62">
            <a:extLst xmlns:a="http://schemas.openxmlformats.org/drawingml/2006/main">
              <a:ext uri="{FF2B5EF4-FFF2-40B4-BE49-F238E27FC236}">
                <a16:creationId xmlns:a16="http://schemas.microsoft.com/office/drawing/2014/main" id="{6CF94A31-9C9A-498A-B827-60E6A07D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7952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3">
            <a:extLst xmlns:a="http://schemas.openxmlformats.org/drawingml/2006/main">
              <a:ext uri="{FF2B5EF4-FFF2-40B4-BE49-F238E27FC236}">
                <a16:creationId xmlns:a16="http://schemas.microsoft.com/office/drawing/2014/main" id="{897D3D16-E05B-4203-94C2-C63EB858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CONTROL DE USUARIOS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26E8124D-7FF2-46DA-8AE3-CB2897B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Acceso seguro y módulos por función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A5820E01-BEAE-434B-B0BC-57F6FBAD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Cada usuario ve las áreas asignadas a su trabajo.</a:t>
            </a:r>
          </a:p>
        </p:txBody>
      </p:sp>
      <p:sp>
        <p:nvSpPr>
          <p:cNvPr id="4" name="shape-66">
            <a:extLst xmlns:a="http://schemas.openxmlformats.org/drawingml/2006/main">
              <a:ext uri="{FF2B5EF4-FFF2-40B4-BE49-F238E27FC236}">
                <a16:creationId xmlns:a16="http://schemas.microsoft.com/office/drawing/2014/main" id="{40F75708-ED15-4160-AC89-CA638786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0">
            <a:solidFill>
              <a:srgbClr val="32AA6B"/>
            </a:solidFill>
            <a:prstDash val="solid"/>
          </a:ln>
        </p:spPr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62DC1E56-7277-4090-9EC7-37FB38AD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Roles y accesos personalizados por módulo.</a:t>
            </a:r>
          </a:p>
        </p:txBody>
      </p:sp>
      <p:sp>
        <p:nvSpPr>
          <p:cNvPr id="6" name="shape-68">
            <a:extLst xmlns:a="http://schemas.openxmlformats.org/drawingml/2006/main">
              <a:ext uri="{FF2B5EF4-FFF2-40B4-BE49-F238E27FC236}">
                <a16:creationId xmlns:a16="http://schemas.microsoft.com/office/drawing/2014/main" id="{0753A171-BECD-4F51-8444-546A8743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0">
            <a:solidFill>
              <a:srgbClr val="32AA6B"/>
            </a:solidFill>
            <a:prstDash val="solid"/>
          </a:ln>
        </p:spPr>
      </p: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BE28E2D0-8B6F-42FA-B694-5D6A74FE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Sesión protegida y administración de usuarios.</a:t>
            </a:r>
          </a:p>
        </p:txBody>
      </p:sp>
      <p:sp>
        <p:nvSpPr>
          <p:cNvPr id="8" name="shape-70">
            <a:extLst xmlns:a="http://schemas.openxmlformats.org/drawingml/2006/main">
              <a:ext uri="{FF2B5EF4-FFF2-40B4-BE49-F238E27FC236}">
                <a16:creationId xmlns:a16="http://schemas.microsoft.com/office/drawing/2014/main" id="{2F7E222A-2BA3-4865-9B8F-33704D8A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0">
            <a:solidFill>
              <a:srgbClr val="32AA6B"/>
            </a:solidFill>
            <a:prstDash val="solid"/>
          </a:ln>
        </p:spPr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8CC5BC11-C048-4B8D-8FB1-635B5E95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Aplicación instalable en Windows como PWA.</a:t>
            </a:r>
          </a:p>
        </p:txBody>
      </p:sp>
      <p:sp>
        <p:nvSpPr>
          <p:cNvPr id="10" name="shape-72">
            <a:extLst xmlns:a="http://schemas.openxmlformats.org/drawingml/2006/main">
              <a:ext uri="{FF2B5EF4-FFF2-40B4-BE49-F238E27FC236}">
                <a16:creationId xmlns:a16="http://schemas.microsoft.com/office/drawing/2014/main" id="{BED4B2B3-180E-4D34-8CFB-0C2C47C0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0">
            <a:solidFill>
              <a:srgbClr val="32AA6B"/>
            </a:solidFill>
            <a:prstDash val="solid"/>
          </a:ln>
        </p:spPr>
      </p:sp>
      <p:sp>
        <p:nvSpPr>
          <p:cNvPr id="11" name="text-73">
            <a:extLst xmlns:a="http://schemas.openxmlformats.org/drawingml/2006/main">
              <a:ext uri="{FF2B5EF4-FFF2-40B4-BE49-F238E27FC236}">
                <a16:creationId xmlns:a16="http://schemas.microsoft.com/office/drawing/2014/main" id="{2C7A5468-A186-494F-A339-323DC8DA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64"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Modo kiosco e impresión térmica para operación.</a:t>
            </a:r>
          </a:p>
        </p:txBody>
      </p:sp>
      <p:sp>
        <p:nvSpPr>
          <p:cNvPr id="12" name="shape-74">
            <a:extLst xmlns:a="http://schemas.openxmlformats.org/drawingml/2006/main">
              <a:ext uri="{FF2B5EF4-FFF2-40B4-BE49-F238E27FC236}">
                <a16:creationId xmlns:a16="http://schemas.microsoft.com/office/drawing/2014/main" id="{933491E0-092E-47BC-876D-79DEFBB6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5638800" cy="4572000"/>
          </a:xfrm>
          <a:prstGeom xmlns:a="http://schemas.openxmlformats.org/drawingml/2006/main" prst="roundRect">
            <a:avLst>
              <a:gd name="adj" fmla="val 4583"/>
            </a:avLst>
          </a:prstGeom>
          <a:solidFill xmlns:a="http://schemas.openxmlformats.org/drawingml/2006/main">
            <a:srgbClr val="0A1E22"/>
          </a:solidFill>
          <a:ln xmlns:a="http://schemas.openxmlformats.org/drawingml/2006/main" w="9525">
            <a:solidFill>
              <a:srgbClr val="12363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096c6bbf34f51"/>
          <a:srcRect xmlns:a="http://schemas.openxmlformats.org/drawingml/2006/main" l="14844" t="0" r="148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504950"/>
            <a:ext cx="5334000" cy="4267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14" name="shape-76">
            <a:extLst xmlns:a="http://schemas.openxmlformats.org/drawingml/2006/main">
              <a:ext uri="{FF2B5EF4-FFF2-40B4-BE49-F238E27FC236}">
                <a16:creationId xmlns:a16="http://schemas.microsoft.com/office/drawing/2014/main" id="{B93AFD32-718E-4F68-A4A6-2A4FA265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724150" cy="42672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0A1E22"/>
          </a:solidFill>
          <a:ln xmlns:a="http://schemas.openxmlformats.org/drawingml/2006/main" w="0">
            <a:solidFill>
              <a:srgbClr val="0A1E22"/>
            </a:solidFill>
            <a:prstDash val="solid"/>
          </a:ln>
        </p:spPr>
      </p:sp>
      <p:sp>
        <p:nvSpPr>
          <p:cNvPr id="15" name="text-77">
            <a:extLst xmlns:a="http://schemas.openxmlformats.org/drawingml/2006/main">
              <a:ext uri="{FF2B5EF4-FFF2-40B4-BE49-F238E27FC236}">
                <a16:creationId xmlns:a16="http://schemas.microsoft.com/office/drawing/2014/main" id="{526D0F27-958F-42B4-9D11-42784A6C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152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 POR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FUNCIÓN</a:t>
            </a:r>
          </a:p>
        </p:txBody>
      </p: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E179786F-55D1-4B3D-8DA3-7DC5F6A3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Roles y sesión protegida</a:t>
            </a:r>
          </a:p>
        </p:txBody>
      </p:sp>
      <p:sp>
        <p:nvSpPr>
          <p:cNvPr id="17" name="text-79">
            <a:extLst xmlns:a="http://schemas.openxmlformats.org/drawingml/2006/main">
              <a:ext uri="{FF2B5EF4-FFF2-40B4-BE49-F238E27FC236}">
                <a16:creationId xmlns:a16="http://schemas.microsoft.com/office/drawing/2014/main" id="{8721EBFF-7B0A-4907-8105-B77A1022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81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CAPTURA REAL</a:t>
            </a:r>
          </a:p>
        </p:txBody>
      </p:sp>
      <p:sp>
        <p:nvSpPr>
          <p:cNvPr id="18" name="shape-80">
            <a:extLst xmlns:a="http://schemas.openxmlformats.org/drawingml/2006/main">
              <a:ext uri="{FF2B5EF4-FFF2-40B4-BE49-F238E27FC236}">
                <a16:creationId xmlns:a16="http://schemas.microsoft.com/office/drawing/2014/main" id="{8C9B5EC7-B2AF-4682-AF75-A433F97E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19" name="text-81">
            <a:extLst xmlns:a="http://schemas.openxmlformats.org/drawingml/2006/main">
              <a:ext uri="{FF2B5EF4-FFF2-40B4-BE49-F238E27FC236}">
                <a16:creationId xmlns:a16="http://schemas.microsoft.com/office/drawing/2014/main" id="{7549858D-DA7F-4219-9098-BEE88F62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20" name="text-82">
            <a:extLst xmlns:a="http://schemas.openxmlformats.org/drawingml/2006/main">
              <a:ext uri="{FF2B5EF4-FFF2-40B4-BE49-F238E27FC236}">
                <a16:creationId xmlns:a16="http://schemas.microsoft.com/office/drawing/2014/main" id="{30893A44-751F-4BFC-A38E-3788952E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4257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83">
            <a:extLst xmlns:a="http://schemas.openxmlformats.org/drawingml/2006/main">
              <a:ext uri="{FF2B5EF4-FFF2-40B4-BE49-F238E27FC236}">
                <a16:creationId xmlns:a16="http://schemas.microsoft.com/office/drawing/2014/main" id="{8556CF85-B23B-4D21-A776-89E3EA63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OPERACIÓN REAL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798F7CAE-32F5-4C56-B109-ABD62581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Recepción: peso, origen y destino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E6A4E5E4-3A54-4513-BC06-6D284A1C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Cada pesada entra al sistema desde la balanza o mediante captura manual.</a:t>
            </a:r>
          </a:p>
        </p:txBody>
      </p:sp>
      <p:sp>
        <p:nvSpPr>
          <p:cNvPr id="4" name="shape-86">
            <a:extLst xmlns:a="http://schemas.openxmlformats.org/drawingml/2006/main">
              <a:ext uri="{FF2B5EF4-FFF2-40B4-BE49-F238E27FC236}">
                <a16:creationId xmlns:a16="http://schemas.microsoft.com/office/drawing/2014/main" id="{9AC75CFF-B9A0-4A86-9F29-6F66539E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9D4"/>
          </a:solidFill>
          <a:ln xmlns:a="http://schemas.openxmlformats.org/drawingml/2006/main" w="0">
            <a:solidFill>
              <a:srgbClr val="18B9D4"/>
            </a:solidFill>
            <a:prstDash val="solid"/>
          </a:ln>
        </p:spPr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2B725A47-57AB-47F3-973C-1EBB3374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563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Conexión Serial o BLE, sujeta al equipo compatible.</a:t>
            </a:r>
          </a:p>
        </p:txBody>
      </p:sp>
      <p:sp>
        <p:nvSpPr>
          <p:cNvPr id="6" name="shape-88">
            <a:extLst xmlns:a="http://schemas.openxmlformats.org/drawingml/2006/main">
              <a:ext uri="{FF2B5EF4-FFF2-40B4-BE49-F238E27FC236}">
                <a16:creationId xmlns:a16="http://schemas.microsoft.com/office/drawing/2014/main" id="{71EA7C8C-B4E4-4896-87CD-D063342B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9D4"/>
          </a:solidFill>
          <a:ln xmlns:a="http://schemas.openxmlformats.org/drawingml/2006/main" w="0">
            <a:solidFill>
              <a:srgbClr val="18B9D4"/>
            </a:solidFill>
            <a:prstDash val="solid"/>
          </a:ln>
        </p:spPr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A1FFD030-A239-47D0-8467-20CB43D4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563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Origen propio o empresa externa.</a:t>
            </a:r>
          </a:p>
        </p:txBody>
      </p:sp>
      <p:sp>
        <p:nvSpPr>
          <p:cNvPr id="8" name="shape-90">
            <a:extLst xmlns:a="http://schemas.openxmlformats.org/drawingml/2006/main">
              <a:ext uri="{FF2B5EF4-FFF2-40B4-BE49-F238E27FC236}">
                <a16:creationId xmlns:a16="http://schemas.microsoft.com/office/drawing/2014/main" id="{20314980-AAB9-4E13-B921-D50900D7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9D4"/>
          </a:solidFill>
          <a:ln xmlns:a="http://schemas.openxmlformats.org/drawingml/2006/main" w="0">
            <a:solidFill>
              <a:srgbClr val="18B9D4"/>
            </a:solidFill>
            <a:prstDash val="solid"/>
          </a:ln>
        </p:spPr>
      </p:sp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0827CE46-E1A3-40A7-97CA-6EC64336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563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Aves, javas, tara, peso bruto y peso neto.</a:t>
            </a:r>
          </a:p>
        </p:txBody>
      </p:sp>
      <p:sp>
        <p:nvSpPr>
          <p:cNvPr id="10" name="shape-92">
            <a:extLst xmlns:a="http://schemas.openxmlformats.org/drawingml/2006/main">
              <a:ext uri="{FF2B5EF4-FFF2-40B4-BE49-F238E27FC236}">
                <a16:creationId xmlns:a16="http://schemas.microsoft.com/office/drawing/2014/main" id="{4D03A419-7C5B-4872-A5AB-DD73A1FE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B9D4"/>
          </a:solidFill>
          <a:ln xmlns:a="http://schemas.openxmlformats.org/drawingml/2006/main" w="0">
            <a:solidFill>
              <a:srgbClr val="18B9D4"/>
            </a:solidFill>
            <a:prstDash val="solid"/>
          </a:ln>
        </p:spPr>
      </p:sp>
      <p:sp>
        <p:nvSpPr>
          <p:cNvPr id="11" name="text-93">
            <a:extLst xmlns:a="http://schemas.openxmlformats.org/drawingml/2006/main">
              <a:ext uri="{FF2B5EF4-FFF2-40B4-BE49-F238E27FC236}">
                <a16:creationId xmlns:a16="http://schemas.microsoft.com/office/drawing/2014/main" id="{714C517C-8602-47C9-A170-9EEE378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563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Cuatro destinos configurables: almacén o despacho.</a:t>
            </a:r>
          </a:p>
        </p:txBody>
      </p:sp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F7052B36-B288-46EF-9995-9648B1F5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SERIAL</a:t>
            </a:r>
          </a:p>
        </p:txBody>
      </p:sp>
      <p:sp>
        <p:nvSpPr>
          <p:cNvPr id="13" name="text-95">
            <a:extLst xmlns:a="http://schemas.openxmlformats.org/drawingml/2006/main">
              <a:ext uri="{FF2B5EF4-FFF2-40B4-BE49-F238E27FC236}">
                <a16:creationId xmlns:a16="http://schemas.microsoft.com/office/drawing/2014/main" id="{54D71151-0E09-4C52-9292-B0F58CD3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BLE</a:t>
            </a:r>
          </a:p>
        </p:txBody>
      </p:sp>
      <p:sp>
        <p:nvSpPr>
          <p:cNvPr id="14" name="text-96">
            <a:extLst xmlns:a="http://schemas.openxmlformats.org/drawingml/2006/main">
              <a:ext uri="{FF2B5EF4-FFF2-40B4-BE49-F238E27FC236}">
                <a16:creationId xmlns:a16="http://schemas.microsoft.com/office/drawing/2014/main" id="{8BA1EB25-72D9-4766-9E8B-C14DC145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219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MANUAL</a:t>
            </a:r>
          </a:p>
        </p:txBody>
      </p:sp>
      <p:sp>
        <p:nvSpPr>
          <p:cNvPr id="15" name="shape-97">
            <a:extLst xmlns:a="http://schemas.openxmlformats.org/drawingml/2006/main">
              <a:ext uri="{FF2B5EF4-FFF2-40B4-BE49-F238E27FC236}">
                <a16:creationId xmlns:a16="http://schemas.microsoft.com/office/drawing/2014/main" id="{369192BA-8F7A-41FF-A5B9-F4D30563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6" name="shape-98">
            <a:extLst xmlns:a="http://schemas.openxmlformats.org/drawingml/2006/main">
              <a:ext uri="{FF2B5EF4-FFF2-40B4-BE49-F238E27FC236}">
                <a16:creationId xmlns:a16="http://schemas.microsoft.com/office/drawing/2014/main" id="{6CD53512-6F9C-41F3-95AF-14E3599B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00150"/>
            <a:ext cx="3524250" cy="495300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cbaa470cb4d4b"/>
          <a:stretch xmlns:a="http://schemas.openxmlformats.org/drawingml/2006/main"/>
        </p:blipFill>
        <p:spPr>
          <a:xfrm xmlns:a="http://schemas.openxmlformats.org/drawingml/2006/main">
            <a:off x="7846219" y="1371600"/>
            <a:ext cx="2881313" cy="4610100"/>
          </a:xfrm>
          <a:prstGeom xmlns:a="http://schemas.openxmlformats.org/drawingml/2006/main" prst="roundRect">
            <a:avLst>
              <a:gd name="adj" fmla="val 4192"/>
            </a:avLst>
          </a:prstGeom>
        </p:spPr>
      </p:pic>
      <p:sp>
        <p:nvSpPr>
          <p:cNvPr id="18" name="text-100">
            <a:extLst xmlns:a="http://schemas.openxmlformats.org/drawingml/2006/main">
              <a:ext uri="{FF2B5EF4-FFF2-40B4-BE49-F238E27FC236}">
                <a16:creationId xmlns:a16="http://schemas.microsoft.com/office/drawing/2014/main" id="{CBC59767-2B5C-45EF-91B1-66C14ED5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CAPTURA REAL • 22 AGO 2026</a:t>
            </a:r>
          </a:p>
        </p:txBody>
      </p:sp>
      <p:sp>
        <p:nvSpPr>
          <p:cNvPr id="19" name="shape-101">
            <a:extLst xmlns:a="http://schemas.openxmlformats.org/drawingml/2006/main">
              <a:ext uri="{FF2B5EF4-FFF2-40B4-BE49-F238E27FC236}">
                <a16:creationId xmlns:a16="http://schemas.microsoft.com/office/drawing/2014/main" id="{80589B8C-BFB2-4505-969D-55E04D60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20" name="text-102">
            <a:extLst xmlns:a="http://schemas.openxmlformats.org/drawingml/2006/main">
              <a:ext uri="{FF2B5EF4-FFF2-40B4-BE49-F238E27FC236}">
                <a16:creationId xmlns:a16="http://schemas.microsoft.com/office/drawing/2014/main" id="{6A6A76A9-78B2-49AA-87E7-E28ADEA9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21" name="text-103">
            <a:extLst xmlns:a="http://schemas.openxmlformats.org/drawingml/2006/main">
              <a:ext uri="{FF2B5EF4-FFF2-40B4-BE49-F238E27FC236}">
                <a16:creationId xmlns:a16="http://schemas.microsoft.com/office/drawing/2014/main" id="{3327E9BE-24DB-40E0-8A05-63B95F11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27886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E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04">
            <a:extLst xmlns:a="http://schemas.openxmlformats.org/drawingml/2006/main">
              <a:ext uri="{FF2B5EF4-FFF2-40B4-BE49-F238E27FC236}">
                <a16:creationId xmlns:a16="http://schemas.microsoft.com/office/drawing/2014/main" id="{FB1D9752-08B0-42A3-9F97-1E2814D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DOS MODALIDADES • CUATRO PUESTOS</a:t>
            </a:r>
          </a:p>
        </p:txBody>
      </p:sp>
      <p:sp>
        <p:nvSpPr>
          <p:cNvPr id="2" name="text-105">
            <a:extLst xmlns:a="http://schemas.openxmlformats.org/drawingml/2006/main">
              <a:ext uri="{FF2B5EF4-FFF2-40B4-BE49-F238E27FC236}">
                <a16:creationId xmlns:a16="http://schemas.microsoft.com/office/drawing/2014/main" id="{F2C13239-D9C8-4043-A0DB-5A64BE86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Mayorista y minorista trabajan en paralelo</a:t>
            </a:r>
          </a:p>
        </p:txBody>
      </p:sp>
      <p:sp>
        <p:nvSpPr>
          <p:cNvPr id="3" name="shape-106">
            <a:extLst xmlns:a="http://schemas.openxmlformats.org/drawingml/2006/main">
              <a:ext uri="{FF2B5EF4-FFF2-40B4-BE49-F238E27FC236}">
                <a16:creationId xmlns:a16="http://schemas.microsoft.com/office/drawing/2014/main" id="{9110FD10-23C5-422A-92F6-F90F4B14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578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2363A"/>
          </a:solidFill>
          <a:ln xmlns:a="http://schemas.openxmlformats.org/drawingml/2006/main" w="9525">
            <a:solidFill>
              <a:srgbClr val="365158"/>
            </a:solidFill>
            <a:prstDash val="solid"/>
          </a:ln>
        </p:spPr>
      </p:sp>
      <p:sp>
        <p:nvSpPr>
          <p:cNvPr id="4" name="shape-107">
            <a:extLst xmlns:a="http://schemas.openxmlformats.org/drawingml/2006/main">
              <a:ext uri="{FF2B5EF4-FFF2-40B4-BE49-F238E27FC236}">
                <a16:creationId xmlns:a16="http://schemas.microsoft.com/office/drawing/2014/main" id="{A3142CAF-6F8D-4086-B1A5-C13CEF8D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2363A"/>
          </a:solidFill>
          <a:ln xmlns:a="http://schemas.openxmlformats.org/drawingml/2006/main" w="9525">
            <a:solidFill>
              <a:srgbClr val="365158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1b4276a0647ef"/>
          <a:srcRect xmlns:a="http://schemas.openxmlformats.org/drawingml/2006/main" l="0" t="1244" r="0" b="1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81150"/>
            <a:ext cx="5105400" cy="2800350"/>
          </a:xfrm>
          <a:prstGeom xmlns:a="http://schemas.openxmlformats.org/drawingml/2006/main" prst="roundRect">
            <a:avLst>
              <a:gd name="adj" fmla="val 4422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ead3de79f410d"/>
          <a:srcRect xmlns:a="http://schemas.openxmlformats.org/drawingml/2006/main" l="0" t="1244" r="0" b="1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81150"/>
            <a:ext cx="5105400" cy="2800350"/>
          </a:xfrm>
          <a:prstGeom xmlns:a="http://schemas.openxmlformats.org/drawingml/2006/main" prst="roundRect">
            <a:avLst>
              <a:gd name="adj" fmla="val 4422"/>
            </a:avLst>
          </a:prstGeom>
        </p:spPr>
      </p:pic>
      <p:sp>
        <p:nvSpPr>
          <p:cNvPr id="7" name="text-110">
            <a:extLst xmlns:a="http://schemas.openxmlformats.org/drawingml/2006/main">
              <a:ext uri="{FF2B5EF4-FFF2-40B4-BE49-F238E27FC236}">
                <a16:creationId xmlns:a16="http://schemas.microsoft.com/office/drawing/2014/main" id="{038EE9B6-8923-49DF-94F8-3C658D5A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MAYORISTA</a:t>
            </a:r>
          </a:p>
        </p:txBody>
      </p:sp>
      <p:sp>
        <p:nvSpPr>
          <p:cNvPr id="8" name="text-111">
            <a:extLst xmlns:a="http://schemas.openxmlformats.org/drawingml/2006/main">
              <a:ext uri="{FF2B5EF4-FFF2-40B4-BE49-F238E27FC236}">
                <a16:creationId xmlns:a16="http://schemas.microsoft.com/office/drawing/2014/main" id="{B0CD5346-66E7-45CB-BEF5-EE9139AD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Javas • tara • aves • peso neto</a:t>
            </a:r>
          </a:p>
        </p:txBody>
      </p:sp>
      <p:sp>
        <p:nvSpPr>
          <p:cNvPr id="9" name="text-112">
            <a:extLst xmlns:a="http://schemas.openxmlformats.org/drawingml/2006/main">
              <a:ext uri="{FF2B5EF4-FFF2-40B4-BE49-F238E27FC236}">
                <a16:creationId xmlns:a16="http://schemas.microsoft.com/office/drawing/2014/main" id="{B3FBB33E-FB8B-4D2D-AD88-5DD01C48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MINORISTA</a:t>
            </a:r>
          </a:p>
        </p:txBody>
      </p:sp>
      <p:sp>
        <p:nvSpPr>
          <p:cNvPr id="10" name="text-113">
            <a:extLst xmlns:a="http://schemas.openxmlformats.org/drawingml/2006/main">
              <a:ext uri="{FF2B5EF4-FFF2-40B4-BE49-F238E27FC236}">
                <a16:creationId xmlns:a16="http://schemas.microsoft.com/office/drawing/2014/main" id="{E2D10C9D-6A05-41B4-B14A-F07F2F22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24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Peso • ajustes • presentación • total</a:t>
            </a:r>
          </a:p>
        </p:txBody>
      </p:sp>
      <p:sp>
        <p:nvSpPr>
          <p:cNvPr id="11" name="text-114">
            <a:extLst xmlns:a="http://schemas.openxmlformats.org/drawingml/2006/main">
              <a:ext uri="{FF2B5EF4-FFF2-40B4-BE49-F238E27FC236}">
                <a16:creationId xmlns:a16="http://schemas.microsoft.com/office/drawing/2014/main" id="{95CB2FCB-C7AC-4E2E-AE0D-2B79DC6A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B9D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B9D4"/>
                </a:solidFill>
                <a:latin typeface="Arial"/>
                <a:ea typeface="Arial"/>
                <a:cs typeface="Arial"/>
              </a:rPr>
              <a:t>Pantalla secundaria para mostrar al cliente peso, cantidad y total.</a:t>
            </a:r>
          </a:p>
        </p:txBody>
      </p:sp>
      <p:sp>
        <p:nvSpPr>
          <p:cNvPr id="12" name="shape-115">
            <a:extLst xmlns:a="http://schemas.openxmlformats.org/drawingml/2006/main">
              <a:ext uri="{FF2B5EF4-FFF2-40B4-BE49-F238E27FC236}">
                <a16:creationId xmlns:a16="http://schemas.microsoft.com/office/drawing/2014/main" id="{6857799F-2E01-4DFB-B1A5-FBDD0976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58"/>
          </a:solidFill>
          <a:ln xmlns:a="http://schemas.openxmlformats.org/drawingml/2006/main" w="0">
            <a:solidFill>
              <a:srgbClr val="365158"/>
            </a:solidFill>
            <a:prstDash val="solid"/>
          </a:ln>
        </p:spPr>
      </p:sp>
      <p:sp>
        <p:nvSpPr>
          <p:cNvPr id="13" name="text-116">
            <a:extLst xmlns:a="http://schemas.openxmlformats.org/drawingml/2006/main">
              <a:ext uri="{FF2B5EF4-FFF2-40B4-BE49-F238E27FC236}">
                <a16:creationId xmlns:a16="http://schemas.microsoft.com/office/drawing/2014/main" id="{5496E7D9-C6EE-4DFF-951A-DAF08F41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7B8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14" name="text-117">
            <a:extLst xmlns:a="http://schemas.openxmlformats.org/drawingml/2006/main">
              <a:ext uri="{FF2B5EF4-FFF2-40B4-BE49-F238E27FC236}">
                <a16:creationId xmlns:a16="http://schemas.microsoft.com/office/drawing/2014/main" id="{6B39C122-8DB7-49B3-9608-4B7E0D24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7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8386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118">
            <a:extLst xmlns:a="http://schemas.openxmlformats.org/drawingml/2006/main">
              <a:ext uri="{FF2B5EF4-FFF2-40B4-BE49-F238E27FC236}">
                <a16:creationId xmlns:a16="http://schemas.microsoft.com/office/drawing/2014/main" id="{BB297FDF-F9D6-4CCE-BEA7-505952D7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DE PUNTA A PUNTA</a:t>
            </a:r>
          </a:p>
        </p:txBody>
      </p:sp>
      <p:sp>
        <p:nvSpPr>
          <p:cNvPr id="2" name="text-119">
            <a:extLst xmlns:a="http://schemas.openxmlformats.org/drawingml/2006/main">
              <a:ext uri="{FF2B5EF4-FFF2-40B4-BE49-F238E27FC236}">
                <a16:creationId xmlns:a16="http://schemas.microsoft.com/office/drawing/2014/main" id="{D8750785-334A-4BA7-97AC-72B8EF3F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Un flujo conecta toda la jornada</a:t>
            </a:r>
          </a:p>
        </p:txBody>
      </p:sp>
      <p:sp>
        <p:nvSpPr>
          <p:cNvPr id="3" name="text-120">
            <a:extLst xmlns:a="http://schemas.openxmlformats.org/drawingml/2006/main">
              <a:ext uri="{FF2B5EF4-FFF2-40B4-BE49-F238E27FC236}">
                <a16:creationId xmlns:a16="http://schemas.microsoft.com/office/drawing/2014/main" id="{724615CB-6151-4D1C-90DD-3AFEB768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Cada etapa alimenta la siguiente y termina en control operativo y financiero.</a:t>
            </a:r>
          </a:p>
        </p:txBody>
      </p:sp>
      <p:sp>
        <p:nvSpPr>
          <p:cNvPr id="4" name="shape-121">
            <a:extLst xmlns:a="http://schemas.openxmlformats.org/drawingml/2006/main">
              <a:ext uri="{FF2B5EF4-FFF2-40B4-BE49-F238E27FC236}">
                <a16:creationId xmlns:a16="http://schemas.microsoft.com/office/drawing/2014/main" id="{DBBA8BCA-9CD8-40E3-9251-BAA7C682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5" name="shape-122">
            <a:extLst xmlns:a="http://schemas.openxmlformats.org/drawingml/2006/main">
              <a:ext uri="{FF2B5EF4-FFF2-40B4-BE49-F238E27FC236}">
                <a16:creationId xmlns:a16="http://schemas.microsoft.com/office/drawing/2014/main" id="{DB8347D8-485A-4522-846F-EF48E89A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E22"/>
          </a:solidFill>
          <a:ln xmlns:a="http://schemas.openxmlformats.org/drawingml/2006/main" w="47625">
            <a:solidFill>
              <a:srgbClr val="F7F5EF"/>
            </a:solidFill>
            <a:prstDash val="solid"/>
          </a:ln>
        </p:spPr>
      </p:sp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311F11F2-3D4F-440D-9CF5-ABC0E52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EF011FC7-E565-498B-BA85-F57DA58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Configurar</a:t>
            </a:r>
          </a:p>
        </p:txBody>
      </p:sp>
      <p:sp>
        <p:nvSpPr>
          <p:cNvPr id="8" name="text-125">
            <a:extLst xmlns:a="http://schemas.openxmlformats.org/drawingml/2006/main">
              <a:ext uri="{FF2B5EF4-FFF2-40B4-BE49-F238E27FC236}">
                <a16:creationId xmlns:a16="http://schemas.microsoft.com/office/drawing/2014/main" id="{AA928D27-7F6D-4B4C-957A-BF260E06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4315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Usuarios, precios</a:t>
            </a:r>
          </a:p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y balanzas</a:t>
            </a:r>
          </a:p>
        </p:txBody>
      </p:sp>
      <p:sp>
        <p:nvSpPr>
          <p:cNvPr id="9" name="shape-126">
            <a:extLst xmlns:a="http://schemas.openxmlformats.org/drawingml/2006/main">
              <a:ext uri="{FF2B5EF4-FFF2-40B4-BE49-F238E27FC236}">
                <a16:creationId xmlns:a16="http://schemas.microsoft.com/office/drawing/2014/main" id="{6DE1A9C8-A069-414C-9747-6C014F47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E22"/>
          </a:solidFill>
          <a:ln xmlns:a="http://schemas.openxmlformats.org/drawingml/2006/main" w="47625">
            <a:solidFill>
              <a:srgbClr val="F7F5EF"/>
            </a:solidFill>
            <a:prstDash val="solid"/>
          </a:ln>
        </p:spPr>
      </p:sp>
      <p:sp>
        <p:nvSpPr>
          <p:cNvPr id="10" name="text-127">
            <a:extLst xmlns:a="http://schemas.openxmlformats.org/drawingml/2006/main">
              <a:ext uri="{FF2B5EF4-FFF2-40B4-BE49-F238E27FC236}">
                <a16:creationId xmlns:a16="http://schemas.microsoft.com/office/drawing/2014/main" id="{EAE39769-5CB3-4C40-BD00-8EEF4A05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-128">
            <a:extLst xmlns:a="http://schemas.openxmlformats.org/drawingml/2006/main">
              <a:ext uri="{FF2B5EF4-FFF2-40B4-BE49-F238E27FC236}">
                <a16:creationId xmlns:a16="http://schemas.microsoft.com/office/drawing/2014/main" id="{C0969E75-923D-42BF-9107-AD4F94BD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766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Programar</a:t>
            </a:r>
          </a:p>
        </p:txBody>
      </p:sp>
      <p:sp>
        <p:nvSpPr>
          <p:cNvPr id="12" name="text-129">
            <a:extLst xmlns:a="http://schemas.openxmlformats.org/drawingml/2006/main">
              <a:ext uri="{FF2B5EF4-FFF2-40B4-BE49-F238E27FC236}">
                <a16:creationId xmlns:a16="http://schemas.microsoft.com/office/drawing/2014/main" id="{5AFF3019-25E5-4CAB-B11B-69B68EB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5765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18"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Jornada, proveedor</a:t>
            </a:r>
          </a:p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y camión</a:t>
            </a:r>
          </a:p>
        </p:txBody>
      </p:sp>
      <p:sp>
        <p:nvSpPr>
          <p:cNvPr id="13" name="shape-130">
            <a:extLst xmlns:a="http://schemas.openxmlformats.org/drawingml/2006/main">
              <a:ext uri="{FF2B5EF4-FFF2-40B4-BE49-F238E27FC236}">
                <a16:creationId xmlns:a16="http://schemas.microsoft.com/office/drawing/2014/main" id="{619D661A-DEAB-4DF9-A448-72BD9E85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E22"/>
          </a:solidFill>
          <a:ln xmlns:a="http://schemas.openxmlformats.org/drawingml/2006/main" w="47625">
            <a:solidFill>
              <a:srgbClr val="F7F5EF"/>
            </a:solidFill>
            <a:prstDash val="solid"/>
          </a:ln>
        </p:spPr>
      </p:sp>
      <p:sp>
        <p:nvSpPr>
          <p:cNvPr id="14" name="text-131">
            <a:extLst xmlns:a="http://schemas.openxmlformats.org/drawingml/2006/main">
              <a:ext uri="{FF2B5EF4-FFF2-40B4-BE49-F238E27FC236}">
                <a16:creationId xmlns:a16="http://schemas.microsoft.com/office/drawing/2014/main" id="{E6A9C9CE-EE51-4358-BAE5-B463ADA2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76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-132">
            <a:extLst xmlns:a="http://schemas.openxmlformats.org/drawingml/2006/main">
              <a:ext uri="{FF2B5EF4-FFF2-40B4-BE49-F238E27FC236}">
                <a16:creationId xmlns:a16="http://schemas.microsoft.com/office/drawing/2014/main" id="{38F3DF2B-F621-48AB-BDC7-B85349C2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Recibir</a:t>
            </a:r>
          </a:p>
        </p:txBody>
      </p:sp>
      <p:sp>
        <p:nvSpPr>
          <p:cNvPr id="16" name="text-133">
            <a:extLst xmlns:a="http://schemas.openxmlformats.org/drawingml/2006/main">
              <a:ext uri="{FF2B5EF4-FFF2-40B4-BE49-F238E27FC236}">
                <a16:creationId xmlns:a16="http://schemas.microsoft.com/office/drawing/2014/main" id="{79DDBEBF-5D7B-47AB-A3AF-FEC0035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Origen, javas</a:t>
            </a:r>
          </a:p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y peso</a:t>
            </a:r>
          </a:p>
        </p:txBody>
      </p:sp>
      <p:sp>
        <p:nvSpPr>
          <p:cNvPr id="17" name="shape-134">
            <a:extLst xmlns:a="http://schemas.openxmlformats.org/drawingml/2006/main">
              <a:ext uri="{FF2B5EF4-FFF2-40B4-BE49-F238E27FC236}">
                <a16:creationId xmlns:a16="http://schemas.microsoft.com/office/drawing/2014/main" id="{A5EB193A-CF07-4172-AE34-2A6F8013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E22"/>
          </a:solidFill>
          <a:ln xmlns:a="http://schemas.openxmlformats.org/drawingml/2006/main" w="47625">
            <a:solidFill>
              <a:srgbClr val="F7F5EF"/>
            </a:solidFill>
            <a:prstDash val="solid"/>
          </a:ln>
        </p:spPr>
      </p:sp>
      <p:sp>
        <p:nvSpPr>
          <p:cNvPr id="18" name="text-135">
            <a:extLst xmlns:a="http://schemas.openxmlformats.org/drawingml/2006/main">
              <a:ext uri="{FF2B5EF4-FFF2-40B4-BE49-F238E27FC236}">
                <a16:creationId xmlns:a16="http://schemas.microsoft.com/office/drawing/2014/main" id="{391B4231-1D99-48B2-92B3-69F458C9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-136">
            <a:extLst xmlns:a="http://schemas.openxmlformats.org/drawingml/2006/main">
              <a:ext uri="{FF2B5EF4-FFF2-40B4-BE49-F238E27FC236}">
                <a16:creationId xmlns:a16="http://schemas.microsoft.com/office/drawing/2014/main" id="{5EFC9F29-99A9-44F4-BB2C-A44D0DB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Despachar</a:t>
            </a:r>
          </a:p>
        </p:txBody>
      </p:sp>
      <p:sp>
        <p:nvSpPr>
          <p:cNvPr id="20" name="text-137">
            <a:extLst xmlns:a="http://schemas.openxmlformats.org/drawingml/2006/main">
              <a:ext uri="{FF2B5EF4-FFF2-40B4-BE49-F238E27FC236}">
                <a16:creationId xmlns:a16="http://schemas.microsoft.com/office/drawing/2014/main" id="{4831A383-C430-4285-BAA3-20DC0D12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Cliente, producto</a:t>
            </a:r>
          </a:p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y ticket</a:t>
            </a:r>
          </a:p>
        </p:txBody>
      </p:sp>
      <p:sp>
        <p:nvSpPr>
          <p:cNvPr id="21" name="shape-138">
            <a:extLst xmlns:a="http://schemas.openxmlformats.org/drawingml/2006/main">
              <a:ext uri="{FF2B5EF4-FFF2-40B4-BE49-F238E27FC236}">
                <a16:creationId xmlns:a16="http://schemas.microsoft.com/office/drawing/2014/main" id="{488E20B1-1F88-436E-8A53-DE973E14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E22"/>
          </a:solidFill>
          <a:ln xmlns:a="http://schemas.openxmlformats.org/drawingml/2006/main" w="47625">
            <a:solidFill>
              <a:srgbClr val="F7F5EF"/>
            </a:solidFill>
            <a:prstDash val="solid"/>
          </a:ln>
        </p:spPr>
      </p:sp>
      <p:sp>
        <p:nvSpPr>
          <p:cNvPr id="22" name="text-139">
            <a:extLst xmlns:a="http://schemas.openxmlformats.org/drawingml/2006/main">
              <a:ext uri="{FF2B5EF4-FFF2-40B4-BE49-F238E27FC236}">
                <a16:creationId xmlns:a16="http://schemas.microsoft.com/office/drawing/2014/main" id="{47CEC87F-B21A-4450-B1DE-40532DEA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76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text-140">
            <a:extLst xmlns:a="http://schemas.openxmlformats.org/drawingml/2006/main">
              <a:ext uri="{FF2B5EF4-FFF2-40B4-BE49-F238E27FC236}">
                <a16:creationId xmlns:a16="http://schemas.microsoft.com/office/drawing/2014/main" id="{DD4EDF4D-D04B-4CC5-AD87-9FBFE433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Finanzas</a:t>
            </a:r>
          </a:p>
        </p:txBody>
      </p:sp>
      <p:sp>
        <p:nvSpPr>
          <p:cNvPr id="24" name="text-141">
            <a:extLst xmlns:a="http://schemas.openxmlformats.org/drawingml/2006/main">
              <a:ext uri="{FF2B5EF4-FFF2-40B4-BE49-F238E27FC236}">
                <a16:creationId xmlns:a16="http://schemas.microsoft.com/office/drawing/2014/main" id="{C1C2F48F-4B87-4E83-A42D-1B664134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Cobrar, pagar</a:t>
            </a:r>
          </a:p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y conciliar</a:t>
            </a:r>
          </a:p>
        </p:txBody>
      </p:sp>
      <p:sp>
        <p:nvSpPr>
          <p:cNvPr id="25" name="shape-142">
            <a:extLst xmlns:a="http://schemas.openxmlformats.org/drawingml/2006/main">
              <a:ext uri="{FF2B5EF4-FFF2-40B4-BE49-F238E27FC236}">
                <a16:creationId xmlns:a16="http://schemas.microsoft.com/office/drawing/2014/main" id="{F0008B72-9CBE-4236-8B81-D72B982F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62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47625">
            <a:solidFill>
              <a:srgbClr val="F7F5EF"/>
            </a:solidFill>
            <a:prstDash val="solid"/>
          </a:ln>
        </p:spPr>
      </p:sp>
      <p:sp>
        <p:nvSpPr>
          <p:cNvPr id="26" name="text-143">
            <a:extLst xmlns:a="http://schemas.openxmlformats.org/drawingml/2006/main">
              <a:ext uri="{FF2B5EF4-FFF2-40B4-BE49-F238E27FC236}">
                <a16:creationId xmlns:a16="http://schemas.microsoft.com/office/drawing/2014/main" id="{5E709AE2-62FE-4A82-8CAA-887E246B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76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text-144">
            <a:extLst xmlns:a="http://schemas.openxmlformats.org/drawingml/2006/main">
              <a:ext uri="{FF2B5EF4-FFF2-40B4-BE49-F238E27FC236}">
                <a16:creationId xmlns:a16="http://schemas.microsoft.com/office/drawing/2014/main" id="{1F3A3ADD-235E-4EE2-9618-8F4F6A74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766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Controlar</a:t>
            </a:r>
          </a:p>
        </p:txBody>
      </p:sp>
      <p:sp>
        <p:nvSpPr>
          <p:cNvPr id="28" name="text-145">
            <a:extLst xmlns:a="http://schemas.openxmlformats.org/drawingml/2006/main">
              <a:ext uri="{FF2B5EF4-FFF2-40B4-BE49-F238E27FC236}">
                <a16:creationId xmlns:a16="http://schemas.microsoft.com/office/drawing/2014/main" id="{C53FB5CB-6729-4543-8740-D70320D6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5765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Resumen, saldos</a:t>
            </a:r>
          </a:p>
          <a:p xmlns:a="http://schemas.openxmlformats.org/drawingml/2006/main">
            <a:pPr algn="ctr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y reportes</a:t>
            </a:r>
          </a:p>
        </p:txBody>
      </p:sp>
      <p:sp>
        <p:nvSpPr>
          <p:cNvPr id="29" name="shape-146">
            <a:extLst xmlns:a="http://schemas.openxmlformats.org/drawingml/2006/main">
              <a:ext uri="{FF2B5EF4-FFF2-40B4-BE49-F238E27FC236}">
                <a16:creationId xmlns:a16="http://schemas.microsoft.com/office/drawing/2014/main" id="{88990629-C17B-4B79-A68A-D31A70B3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72390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30" name="text-147">
            <a:extLst xmlns:a="http://schemas.openxmlformats.org/drawingml/2006/main">
              <a:ext uri="{FF2B5EF4-FFF2-40B4-BE49-F238E27FC236}">
                <a16:creationId xmlns:a16="http://schemas.microsoft.com/office/drawing/2014/main" id="{298E070D-5D2E-478D-BDF6-2902F771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76875"/>
            <a:ext cx="670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Los precios usados y el movimiento quedan vinculados al ticket y al control posterior.</a:t>
            </a:r>
          </a:p>
        </p:txBody>
      </p:sp>
      <p:sp>
        <p:nvSpPr>
          <p:cNvPr id="31" name="shape-148">
            <a:extLst xmlns:a="http://schemas.openxmlformats.org/drawingml/2006/main">
              <a:ext uri="{FF2B5EF4-FFF2-40B4-BE49-F238E27FC236}">
                <a16:creationId xmlns:a16="http://schemas.microsoft.com/office/drawing/2014/main" id="{92659A22-FBEA-4465-A102-FD097EBD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32" name="text-149">
            <a:extLst xmlns:a="http://schemas.openxmlformats.org/drawingml/2006/main">
              <a:ext uri="{FF2B5EF4-FFF2-40B4-BE49-F238E27FC236}">
                <a16:creationId xmlns:a16="http://schemas.microsoft.com/office/drawing/2014/main" id="{B165924F-8DBF-4F05-8F67-52E872B2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33" name="text-150">
            <a:extLst xmlns:a="http://schemas.openxmlformats.org/drawingml/2006/main">
              <a:ext uri="{FF2B5EF4-FFF2-40B4-BE49-F238E27FC236}">
                <a16:creationId xmlns:a16="http://schemas.microsoft.com/office/drawing/2014/main" id="{A3DF887A-D0A0-40EC-AEC2-55845204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3616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51">
            <a:extLst xmlns:a="http://schemas.openxmlformats.org/drawingml/2006/main">
              <a:ext uri="{FF2B5EF4-FFF2-40B4-BE49-F238E27FC236}">
                <a16:creationId xmlns:a16="http://schemas.microsoft.com/office/drawing/2014/main" id="{31FC6CA8-6A32-4189-9CCF-E590DDF4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CONFIGURACIÓN + SERVICIO A MEDIDA</a:t>
            </a:r>
          </a:p>
        </p:txBody>
      </p:sp>
      <p:sp>
        <p:nvSpPr>
          <p:cNvPr id="2" name="text-152">
            <a:extLst xmlns:a="http://schemas.openxmlformats.org/drawingml/2006/main">
              <a:ext uri="{FF2B5EF4-FFF2-40B4-BE49-F238E27FC236}">
                <a16:creationId xmlns:a16="http://schemas.microsoft.com/office/drawing/2014/main" id="{8083F3DE-B7A7-48F1-BDAD-893E7457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Venta y despacho se adaptan a tu operación</a:t>
            </a:r>
          </a:p>
        </p:txBody>
      </p:sp>
      <p:sp>
        <p:nvSpPr>
          <p:cNvPr id="3" name="shape-153">
            <a:extLst xmlns:a="http://schemas.openxmlformats.org/drawingml/2006/main">
              <a:ext uri="{FF2B5EF4-FFF2-40B4-BE49-F238E27FC236}">
                <a16:creationId xmlns:a16="http://schemas.microsoft.com/office/drawing/2014/main" id="{DA309D2D-00A4-45A3-8FBD-3040B1C5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334000" cy="3009900"/>
          </a:xfrm>
          <a:prstGeom xmlns:a="http://schemas.openxmlformats.org/drawingml/2006/main" prst="roundRect">
            <a:avLst>
              <a:gd name="adj" fmla="val 5696"/>
            </a:avLst>
          </a:prstGeom>
          <a:solidFill xmlns:a="http://schemas.openxmlformats.org/drawingml/2006/main">
            <a:srgbClr val="0A1E22"/>
          </a:solidFill>
          <a:ln xmlns:a="http://schemas.openxmlformats.org/drawingml/2006/main" w="0">
            <a:solidFill>
              <a:srgbClr val="0A1E2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5fe825f7d47d2"/>
          <a:srcRect xmlns:a="http://schemas.openxmlformats.org/drawingml/2006/main" l="0" t="980" r="0" b="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43050"/>
            <a:ext cx="5181600" cy="2857500"/>
          </a:xfrm>
          <a:prstGeom xmlns:a="http://schemas.openxmlformats.org/drawingml/2006/main" prst="roundRect">
            <a:avLst>
              <a:gd name="adj" fmla="val 4333"/>
            </a:avLst>
          </a:prstGeom>
        </p:spPr>
      </p:pic>
      <p:sp>
        <p:nvSpPr>
          <p:cNvPr id="5" name="text-155">
            <a:extLst xmlns:a="http://schemas.openxmlformats.org/drawingml/2006/main">
              <a:ext uri="{FF2B5EF4-FFF2-40B4-BE49-F238E27FC236}">
                <a16:creationId xmlns:a16="http://schemas.microsoft.com/office/drawing/2014/main" id="{88FAF6D3-C32D-49E3-9B7A-38E58894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CONFIGURACIÓN INCLUIDA</a:t>
            </a:r>
          </a:p>
        </p:txBody>
      </p:sp>
      <p:sp>
        <p:nvSpPr>
          <p:cNvPr id="6" name="shape-156">
            <a:extLst xmlns:a="http://schemas.openxmlformats.org/drawingml/2006/main">
              <a:ext uri="{FF2B5EF4-FFF2-40B4-BE49-F238E27FC236}">
                <a16:creationId xmlns:a16="http://schemas.microsoft.com/office/drawing/2014/main" id="{64A40005-1784-42DE-A666-D5966B54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0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0">
            <a:solidFill>
              <a:srgbClr val="32AA6B"/>
            </a:solidFill>
            <a:prstDash val="solid"/>
          </a:ln>
        </p:spPr>
      </p:sp>
      <p:sp>
        <p:nvSpPr>
          <p:cNvPr id="7" name="text-157">
            <a:extLst xmlns:a="http://schemas.openxmlformats.org/drawingml/2006/main">
              <a:ext uri="{FF2B5EF4-FFF2-40B4-BE49-F238E27FC236}">
                <a16:creationId xmlns:a16="http://schemas.microsoft.com/office/drawing/2014/main" id="{9BAFDF8A-2DC3-49FF-9201-C0E59A23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24050"/>
            <a:ext cx="449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Precios generales y por cliente.</a:t>
            </a:r>
          </a:p>
        </p:txBody>
      </p:sp>
      <p:sp>
        <p:nvSpPr>
          <p:cNvPr id="8" name="shape-158">
            <a:extLst xmlns:a="http://schemas.openxmlformats.org/drawingml/2006/main">
              <a:ext uri="{FF2B5EF4-FFF2-40B4-BE49-F238E27FC236}">
                <a16:creationId xmlns:a16="http://schemas.microsoft.com/office/drawing/2014/main" id="{856371BD-B713-45D8-A7E5-BC5F7C69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0">
            <a:solidFill>
              <a:srgbClr val="32AA6B"/>
            </a:solidFill>
            <a:prstDash val="solid"/>
          </a:ln>
        </p:spPr>
      </p:sp>
      <p:sp>
        <p:nvSpPr>
          <p:cNvPr id="9" name="text-159">
            <a:extLst xmlns:a="http://schemas.openxmlformats.org/drawingml/2006/main">
              <a:ext uri="{FF2B5EF4-FFF2-40B4-BE49-F238E27FC236}">
                <a16:creationId xmlns:a16="http://schemas.microsoft.com/office/drawing/2014/main" id="{DC20BDF3-5227-4916-886D-6E48A74F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52675"/>
            <a:ext cx="449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Balanzas, ajustes de peso y estaciones.</a:t>
            </a:r>
          </a:p>
        </p:txBody>
      </p:sp>
      <p:sp>
        <p:nvSpPr>
          <p:cNvPr id="10" name="shape-160">
            <a:extLst xmlns:a="http://schemas.openxmlformats.org/drawingml/2006/main">
              <a:ext uri="{FF2B5EF4-FFF2-40B4-BE49-F238E27FC236}">
                <a16:creationId xmlns:a16="http://schemas.microsoft.com/office/drawing/2014/main" id="{D220F13C-8928-4D47-98DA-334B2D1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7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0">
            <a:solidFill>
              <a:srgbClr val="32AA6B"/>
            </a:solidFill>
            <a:prstDash val="solid"/>
          </a:ln>
        </p:spPr>
      </p:sp>
      <p:sp>
        <p:nvSpPr>
          <p:cNvPr id="11" name="text-161">
            <a:extLst xmlns:a="http://schemas.openxmlformats.org/drawingml/2006/main">
              <a:ext uri="{FF2B5EF4-FFF2-40B4-BE49-F238E27FC236}">
                <a16:creationId xmlns:a16="http://schemas.microsoft.com/office/drawing/2014/main" id="{1FCABC39-92F0-4B1B-AD18-1849F41B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449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Métodos de pago, entregas y tickets.</a:t>
            </a:r>
          </a:p>
        </p:txBody>
      </p:sp>
      <p:sp>
        <p:nvSpPr>
          <p:cNvPr id="12" name="shape-162">
            <a:extLst xmlns:a="http://schemas.openxmlformats.org/drawingml/2006/main">
              <a:ext uri="{FF2B5EF4-FFF2-40B4-BE49-F238E27FC236}">
                <a16:creationId xmlns:a16="http://schemas.microsoft.com/office/drawing/2014/main" id="{D8427462-4F81-482D-B3EF-1CE7637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0">
            <a:solidFill>
              <a:srgbClr val="32AA6B"/>
            </a:solidFill>
            <a:prstDash val="solid"/>
          </a:ln>
        </p:spPr>
      </p:sp>
      <p:sp>
        <p:nvSpPr>
          <p:cNvPr id="13" name="text-163">
            <a:extLst xmlns:a="http://schemas.openxmlformats.org/drawingml/2006/main">
              <a:ext uri="{FF2B5EF4-FFF2-40B4-BE49-F238E27FC236}">
                <a16:creationId xmlns:a16="http://schemas.microsoft.com/office/drawing/2014/main" id="{4F4177A2-361F-4A08-8EB7-7FFE86B3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9925"/>
            <a:ext cx="449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Roles, accesos y colores de reportes.</a:t>
            </a:r>
          </a:p>
        </p:txBody>
      </p:sp>
      <p:sp>
        <p:nvSpPr>
          <p:cNvPr id="14" name="shape-164">
            <a:extLst xmlns:a="http://schemas.openxmlformats.org/drawingml/2006/main">
              <a:ext uri="{FF2B5EF4-FFF2-40B4-BE49-F238E27FC236}">
                <a16:creationId xmlns:a16="http://schemas.microsoft.com/office/drawing/2014/main" id="{953532B9-42C1-43AF-A910-87FD4DD3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15" name="text-165">
            <a:extLst xmlns:a="http://schemas.openxmlformats.org/drawingml/2006/main">
              <a:ext uri="{FF2B5EF4-FFF2-40B4-BE49-F238E27FC236}">
                <a16:creationId xmlns:a16="http://schemas.microsoft.com/office/drawing/2014/main" id="{218E9EFD-8FC0-433D-BA5F-79A862DE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ADAPTACIÓN A MEDIDA</a:t>
            </a:r>
          </a:p>
        </p:txBody>
      </p:sp>
      <p:sp>
        <p:nvSpPr>
          <p:cNvPr id="16" name="text-166">
            <a:extLst xmlns:a="http://schemas.openxmlformats.org/drawingml/2006/main">
              <a:ext uri="{FF2B5EF4-FFF2-40B4-BE49-F238E27FC236}">
                <a16:creationId xmlns:a16="http://schemas.microsoft.com/office/drawing/2014/main" id="{1240C22F-7E17-40B1-9E3E-E365553C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Si tu negocio necesita pasos, campos, validaciones o formatos particulares, pueden desarrollarse como una adaptación a medida.</a:t>
            </a:r>
          </a:p>
        </p:txBody>
      </p:sp>
      <p:sp>
        <p:nvSpPr>
          <p:cNvPr id="17" name="shape-167">
            <a:extLst xmlns:a="http://schemas.openxmlformats.org/drawingml/2006/main">
              <a:ext uri="{FF2B5EF4-FFF2-40B4-BE49-F238E27FC236}">
                <a16:creationId xmlns:a16="http://schemas.microsoft.com/office/drawing/2014/main" id="{F723BD98-701C-44EE-9D06-B1FF18BA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3340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D761"/>
          </a:solidFill>
          <a:ln xmlns:a="http://schemas.openxmlformats.org/drawingml/2006/main" w="9525">
            <a:solidFill>
              <a:srgbClr val="F6C344"/>
            </a:solidFill>
            <a:prstDash val="solid"/>
          </a:ln>
        </p:spPr>
      </p:sp>
      <p:sp>
        <p:nvSpPr>
          <p:cNvPr id="18" name="text-168">
            <a:extLst xmlns:a="http://schemas.openxmlformats.org/drawingml/2006/main">
              <a:ext uri="{FF2B5EF4-FFF2-40B4-BE49-F238E27FC236}">
                <a16:creationId xmlns:a16="http://schemas.microsoft.com/office/drawing/2014/main" id="{8A25B72D-8670-4A6C-AD4A-79D863C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815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Tu forma de trabajar guía la configuración; los cambios adicionales se definen antes de implementar.</a:t>
            </a:r>
          </a:p>
        </p:txBody>
      </p:sp>
      <p:sp>
        <p:nvSpPr>
          <p:cNvPr id="19" name="shape-169">
            <a:extLst xmlns:a="http://schemas.openxmlformats.org/drawingml/2006/main">
              <a:ext uri="{FF2B5EF4-FFF2-40B4-BE49-F238E27FC236}">
                <a16:creationId xmlns:a16="http://schemas.microsoft.com/office/drawing/2014/main" id="{F9D69285-74B3-49C9-87A4-6734291E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20" name="text-170">
            <a:extLst xmlns:a="http://schemas.openxmlformats.org/drawingml/2006/main">
              <a:ext uri="{FF2B5EF4-FFF2-40B4-BE49-F238E27FC236}">
                <a16:creationId xmlns:a16="http://schemas.microsoft.com/office/drawing/2014/main" id="{D8506551-00F2-419A-8F5B-246437A5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21" name="text-171">
            <a:extLst xmlns:a="http://schemas.openxmlformats.org/drawingml/2006/main">
              <a:ext uri="{FF2B5EF4-FFF2-40B4-BE49-F238E27FC236}">
                <a16:creationId xmlns:a16="http://schemas.microsoft.com/office/drawing/2014/main" id="{4AAFC30D-C8A2-406F-91C3-8BD4832D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71756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E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72">
            <a:extLst xmlns:a="http://schemas.openxmlformats.org/drawingml/2006/main">
              <a:ext uri="{FF2B5EF4-FFF2-40B4-BE49-F238E27FC236}">
                <a16:creationId xmlns:a16="http://schemas.microsoft.com/office/drawing/2014/main" id="{95295F33-BA08-4899-BB1B-CCB0CA6D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LA OPERACIÓN TAMBIÉN DEJA CUENTAS CLARAS</a:t>
            </a:r>
          </a:p>
        </p:txBody>
      </p:sp>
      <p:sp>
        <p:nvSpPr>
          <p:cNvPr id="2" name="text-173">
            <a:extLst xmlns:a="http://schemas.openxmlformats.org/drawingml/2006/main">
              <a:ext uri="{FF2B5EF4-FFF2-40B4-BE49-F238E27FC236}">
                <a16:creationId xmlns:a16="http://schemas.microsoft.com/office/drawing/2014/main" id="{41656697-6FC4-4ADF-9EF5-A9AE07DB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Finanzas y control cierran el ciclo</a:t>
            </a:r>
          </a:p>
        </p:txBody>
      </p:sp>
      <p:sp>
        <p:nvSpPr>
          <p:cNvPr id="3" name="text-174">
            <a:extLst xmlns:a="http://schemas.openxmlformats.org/drawingml/2006/main">
              <a:ext uri="{FF2B5EF4-FFF2-40B4-BE49-F238E27FC236}">
                <a16:creationId xmlns:a16="http://schemas.microsoft.com/office/drawing/2014/main" id="{A691EA00-4493-4616-985D-6BFEF5C8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0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Ventas, compras y movimientos de dinero dejan de vivir en registros aislados.</a:t>
            </a:r>
          </a:p>
        </p:txBody>
      </p:sp>
      <p:sp>
        <p:nvSpPr>
          <p:cNvPr id="4" name="shape-175">
            <a:extLst xmlns:a="http://schemas.openxmlformats.org/drawingml/2006/main">
              <a:ext uri="{FF2B5EF4-FFF2-40B4-BE49-F238E27FC236}">
                <a16:creationId xmlns:a16="http://schemas.microsoft.com/office/drawing/2014/main" id="{130732BC-E7BA-4779-A28D-112DE1A7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5" name="text-176">
            <a:extLst xmlns:a="http://schemas.openxmlformats.org/drawingml/2006/main">
              <a:ext uri="{FF2B5EF4-FFF2-40B4-BE49-F238E27FC236}">
                <a16:creationId xmlns:a16="http://schemas.microsoft.com/office/drawing/2014/main" id="{834D277D-41A9-42D3-9CA8-EDABF1C9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Una misma lectura para operación, administración y cierre de jornada.</a:t>
            </a:r>
          </a:p>
        </p:txBody>
      </p:sp>
      <p:sp>
        <p:nvSpPr>
          <p:cNvPr id="6" name="text-177">
            <a:extLst xmlns:a="http://schemas.openxmlformats.org/drawingml/2006/main">
              <a:ext uri="{FF2B5EF4-FFF2-40B4-BE49-F238E27FC236}">
                <a16:creationId xmlns:a16="http://schemas.microsoft.com/office/drawing/2014/main" id="{0F5FA507-76DE-4728-A342-A06A2058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E8C3B00A-D15F-43E3-86EB-B685359C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Compras</a:t>
            </a:r>
          </a:p>
        </p:txBody>
      </p:sp>
      <p:sp>
        <p:nvSpPr>
          <p:cNvPr id="8" name="text-179">
            <a:extLst xmlns:a="http://schemas.openxmlformats.org/drawingml/2006/main">
              <a:ext uri="{FF2B5EF4-FFF2-40B4-BE49-F238E27FC236}">
                <a16:creationId xmlns:a16="http://schemas.microsoft.com/office/drawing/2014/main" id="{760A042A-3AE5-46DC-851A-E38214F6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66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Contado o crédito</a:t>
            </a:r>
          </a:p>
        </p:txBody>
      </p:sp>
      <p:sp>
        <p:nvSpPr>
          <p:cNvPr id="9" name="shape-180">
            <a:extLst xmlns:a="http://schemas.openxmlformats.org/drawingml/2006/main">
              <a:ext uri="{FF2B5EF4-FFF2-40B4-BE49-F238E27FC236}">
                <a16:creationId xmlns:a16="http://schemas.microsoft.com/office/drawing/2014/main" id="{B18189A7-AF07-4235-B777-68D67077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58"/>
          </a:solidFill>
          <a:ln xmlns:a="http://schemas.openxmlformats.org/drawingml/2006/main" w="0">
            <a:solidFill>
              <a:srgbClr val="365158"/>
            </a:solidFill>
            <a:prstDash val="solid"/>
          </a:ln>
        </p:spPr>
      </p:sp>
      <p:sp>
        <p:nvSpPr>
          <p:cNvPr id="10" name="text-181">
            <a:extLst xmlns:a="http://schemas.openxmlformats.org/drawingml/2006/main">
              <a:ext uri="{FF2B5EF4-FFF2-40B4-BE49-F238E27FC236}">
                <a16:creationId xmlns:a16="http://schemas.microsoft.com/office/drawing/2014/main" id="{55EF328B-496D-4672-916D-51F93769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-182">
            <a:extLst xmlns:a="http://schemas.openxmlformats.org/drawingml/2006/main">
              <a:ext uri="{FF2B5EF4-FFF2-40B4-BE49-F238E27FC236}">
                <a16:creationId xmlns:a16="http://schemas.microsoft.com/office/drawing/2014/main" id="{545A8246-5F63-44B9-97D6-2EEAA519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Caja y cobranzas</a:t>
            </a:r>
          </a:p>
        </p:txBody>
      </p:sp>
      <p:sp>
        <p:nvSpPr>
          <p:cNvPr id="12" name="text-183">
            <a:extLst xmlns:a="http://schemas.openxmlformats.org/drawingml/2006/main">
              <a:ext uri="{FF2B5EF4-FFF2-40B4-BE49-F238E27FC236}">
                <a16:creationId xmlns:a16="http://schemas.microsoft.com/office/drawing/2014/main" id="{8EAB05E6-8128-4178-B95F-A92A53BB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Efectivo y cuentas</a:t>
            </a:r>
          </a:p>
        </p:txBody>
      </p:sp>
      <p:sp>
        <p:nvSpPr>
          <p:cNvPr id="13" name="shape-184">
            <a:extLst xmlns:a="http://schemas.openxmlformats.org/drawingml/2006/main">
              <a:ext uri="{FF2B5EF4-FFF2-40B4-BE49-F238E27FC236}">
                <a16:creationId xmlns:a16="http://schemas.microsoft.com/office/drawing/2014/main" id="{2A692A4A-2C6A-4A6C-9C4F-5719E374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58"/>
          </a:solidFill>
          <a:ln xmlns:a="http://schemas.openxmlformats.org/drawingml/2006/main" w="0">
            <a:solidFill>
              <a:srgbClr val="365158"/>
            </a:solidFill>
            <a:prstDash val="solid"/>
          </a:ln>
        </p:spPr>
      </p:sp>
      <p:sp>
        <p:nvSpPr>
          <p:cNvPr id="14" name="text-185">
            <a:extLst xmlns:a="http://schemas.openxmlformats.org/drawingml/2006/main">
              <a:ext uri="{FF2B5EF4-FFF2-40B4-BE49-F238E27FC236}">
                <a16:creationId xmlns:a16="http://schemas.microsoft.com/office/drawing/2014/main" id="{E04DBD6E-2A03-4624-8B0B-25DE0F58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-186">
            <a:extLst xmlns:a="http://schemas.openxmlformats.org/drawingml/2006/main">
              <a:ext uri="{FF2B5EF4-FFF2-40B4-BE49-F238E27FC236}">
                <a16:creationId xmlns:a16="http://schemas.microsoft.com/office/drawing/2014/main" id="{75F1337F-C5FD-4314-861A-CEDA55F7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Pagos y gastos</a:t>
            </a:r>
          </a:p>
        </p:txBody>
      </p:sp>
      <p:sp>
        <p:nvSpPr>
          <p:cNvPr id="16" name="text-187">
            <a:extLst xmlns:a="http://schemas.openxmlformats.org/drawingml/2006/main">
              <a:ext uri="{FF2B5EF4-FFF2-40B4-BE49-F238E27FC236}">
                <a16:creationId xmlns:a16="http://schemas.microsoft.com/office/drawing/2014/main" id="{AE5D7464-F492-41E2-9A80-6693A08C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194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256"/>
          </a:bodyPr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Método, responsable y detalle</a:t>
            </a:r>
          </a:p>
        </p:txBody>
      </p:sp>
      <p:sp>
        <p:nvSpPr>
          <p:cNvPr id="17" name="shape-188">
            <a:extLst xmlns:a="http://schemas.openxmlformats.org/drawingml/2006/main">
              <a:ext uri="{FF2B5EF4-FFF2-40B4-BE49-F238E27FC236}">
                <a16:creationId xmlns:a16="http://schemas.microsoft.com/office/drawing/2014/main" id="{12469676-AC02-40FF-9123-7C704B8F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58"/>
          </a:solidFill>
          <a:ln xmlns:a="http://schemas.openxmlformats.org/drawingml/2006/main" w="0">
            <a:solidFill>
              <a:srgbClr val="365158"/>
            </a:solidFill>
            <a:prstDash val="solid"/>
          </a:ln>
        </p:spPr>
      </p:sp>
      <p:sp>
        <p:nvSpPr>
          <p:cNvPr id="18" name="text-189">
            <a:extLst xmlns:a="http://schemas.openxmlformats.org/drawingml/2006/main">
              <a:ext uri="{FF2B5EF4-FFF2-40B4-BE49-F238E27FC236}">
                <a16:creationId xmlns:a16="http://schemas.microsoft.com/office/drawing/2014/main" id="{BB511D19-C2DA-4505-8FCF-668A1D1E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-190">
            <a:extLst xmlns:a="http://schemas.openxmlformats.org/drawingml/2006/main">
              <a:ext uri="{FF2B5EF4-FFF2-40B4-BE49-F238E27FC236}">
                <a16:creationId xmlns:a16="http://schemas.microsoft.com/office/drawing/2014/main" id="{FB834252-8997-4E74-B93E-4293EFC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Saldos</a:t>
            </a:r>
          </a:p>
        </p:txBody>
      </p:sp>
      <p:sp>
        <p:nvSpPr>
          <p:cNvPr id="20" name="text-191">
            <a:extLst xmlns:a="http://schemas.openxmlformats.org/drawingml/2006/main">
              <a:ext uri="{FF2B5EF4-FFF2-40B4-BE49-F238E27FC236}">
                <a16:creationId xmlns:a16="http://schemas.microsoft.com/office/drawing/2014/main" id="{5273F00C-CE58-4AF3-A216-BF0E2F7E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Clientes y proveedores</a:t>
            </a:r>
          </a:p>
        </p:txBody>
      </p:sp>
      <p:sp>
        <p:nvSpPr>
          <p:cNvPr id="21" name="shape-192">
            <a:extLst xmlns:a="http://schemas.openxmlformats.org/drawingml/2006/main">
              <a:ext uri="{FF2B5EF4-FFF2-40B4-BE49-F238E27FC236}">
                <a16:creationId xmlns:a16="http://schemas.microsoft.com/office/drawing/2014/main" id="{20421BFB-5D94-49F2-A3D7-AB4E58A1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58"/>
          </a:solidFill>
          <a:ln xmlns:a="http://schemas.openxmlformats.org/drawingml/2006/main" w="0">
            <a:solidFill>
              <a:srgbClr val="365158"/>
            </a:solidFill>
            <a:prstDash val="solid"/>
          </a:ln>
        </p:spPr>
      </p:sp>
      <p:sp>
        <p:nvSpPr>
          <p:cNvPr id="22" name="text-193">
            <a:extLst xmlns:a="http://schemas.openxmlformats.org/drawingml/2006/main">
              <a:ext uri="{FF2B5EF4-FFF2-40B4-BE49-F238E27FC236}">
                <a16:creationId xmlns:a16="http://schemas.microsoft.com/office/drawing/2014/main" id="{339F49DF-0FE8-4C64-9B95-02CC6574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text-194">
            <a:extLst xmlns:a="http://schemas.openxmlformats.org/drawingml/2006/main">
              <a:ext uri="{FF2B5EF4-FFF2-40B4-BE49-F238E27FC236}">
                <a16:creationId xmlns:a16="http://schemas.microsoft.com/office/drawing/2014/main" id="{7961C4C5-7A99-46D6-91C9-338E9488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Reportes</a:t>
            </a:r>
          </a:p>
        </p:txBody>
      </p:sp>
      <p:sp>
        <p:nvSpPr>
          <p:cNvPr id="24" name="text-195">
            <a:extLst xmlns:a="http://schemas.openxmlformats.org/drawingml/2006/main">
              <a:ext uri="{FF2B5EF4-FFF2-40B4-BE49-F238E27FC236}">
                <a16:creationId xmlns:a16="http://schemas.microsoft.com/office/drawing/2014/main" id="{0F8BD50C-2E36-483C-BF13-9BF03769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720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70"/>
          </a:bodyPr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PDF, imagen y CSV según el caso</a:t>
            </a:r>
          </a:p>
        </p:txBody>
      </p:sp>
      <p:sp>
        <p:nvSpPr>
          <p:cNvPr id="25" name="text-196">
            <a:extLst xmlns:a="http://schemas.openxmlformats.org/drawingml/2006/main">
              <a:ext uri="{FF2B5EF4-FFF2-40B4-BE49-F238E27FC236}">
                <a16:creationId xmlns:a16="http://schemas.microsoft.com/office/drawing/2014/main" id="{4D527E75-D388-4FE8-AC62-3DE9D0E4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B9D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B9D4"/>
                </a:solidFill>
                <a:latin typeface="Arial"/>
                <a:ea typeface="Arial"/>
                <a:cs typeface="Arial"/>
              </a:rPr>
              <a:t>VENTA / COMPRA</a:t>
            </a:r>
          </a:p>
        </p:txBody>
      </p:sp>
      <p:sp>
        <p:nvSpPr>
          <p:cNvPr id="26" name="text-197">
            <a:extLst xmlns:a="http://schemas.openxmlformats.org/drawingml/2006/main">
              <a:ext uri="{FF2B5EF4-FFF2-40B4-BE49-F238E27FC236}">
                <a16:creationId xmlns:a16="http://schemas.microsoft.com/office/drawing/2014/main" id="{8C56194C-B7E8-4B58-B43E-8B78B019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text-198">
            <a:extLst xmlns:a="http://schemas.openxmlformats.org/drawingml/2006/main">
              <a:ext uri="{FF2B5EF4-FFF2-40B4-BE49-F238E27FC236}">
                <a16:creationId xmlns:a16="http://schemas.microsoft.com/office/drawing/2014/main" id="{8699D852-C02C-4EDB-AB3A-DF178CB2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00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B9D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B9D4"/>
                </a:solidFill>
                <a:latin typeface="Arial"/>
                <a:ea typeface="Arial"/>
                <a:cs typeface="Arial"/>
              </a:rPr>
              <a:t>CAJA Y CARTERA</a:t>
            </a:r>
          </a:p>
        </p:txBody>
      </p:sp>
      <p:sp>
        <p:nvSpPr>
          <p:cNvPr id="28" name="text-199">
            <a:extLst xmlns:a="http://schemas.openxmlformats.org/drawingml/2006/main">
              <a:ext uri="{FF2B5EF4-FFF2-40B4-BE49-F238E27FC236}">
                <a16:creationId xmlns:a16="http://schemas.microsoft.com/office/drawing/2014/main" id="{F20AA015-FF6C-4701-B7F3-E7F263E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text-200">
            <a:extLst xmlns:a="http://schemas.openxmlformats.org/drawingml/2006/main">
              <a:ext uri="{FF2B5EF4-FFF2-40B4-BE49-F238E27FC236}">
                <a16:creationId xmlns:a16="http://schemas.microsoft.com/office/drawing/2014/main" id="{A99244CC-D239-46EC-8DCF-CE39FF09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00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B9D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B9D4"/>
                </a:solidFill>
                <a:latin typeface="Arial"/>
                <a:ea typeface="Arial"/>
                <a:cs typeface="Arial"/>
              </a:rPr>
              <a:t>REPORTE</a:t>
            </a:r>
          </a:p>
        </p:txBody>
      </p:sp>
      <p:sp>
        <p:nvSpPr>
          <p:cNvPr id="30" name="shape-201">
            <a:extLst xmlns:a="http://schemas.openxmlformats.org/drawingml/2006/main">
              <a:ext uri="{FF2B5EF4-FFF2-40B4-BE49-F238E27FC236}">
                <a16:creationId xmlns:a16="http://schemas.microsoft.com/office/drawing/2014/main" id="{89129050-4256-4802-A4E2-7F905A0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58"/>
          </a:solidFill>
          <a:ln xmlns:a="http://schemas.openxmlformats.org/drawingml/2006/main" w="0">
            <a:solidFill>
              <a:srgbClr val="365158"/>
            </a:solidFill>
            <a:prstDash val="solid"/>
          </a:ln>
        </p:spPr>
      </p:sp>
      <p:sp>
        <p:nvSpPr>
          <p:cNvPr id="31" name="text-202">
            <a:extLst xmlns:a="http://schemas.openxmlformats.org/drawingml/2006/main">
              <a:ext uri="{FF2B5EF4-FFF2-40B4-BE49-F238E27FC236}">
                <a16:creationId xmlns:a16="http://schemas.microsoft.com/office/drawing/2014/main" id="{8ECCE2FB-BAAA-42F8-835F-D996C891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7B8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32" name="text-203">
            <a:extLst xmlns:a="http://schemas.openxmlformats.org/drawingml/2006/main">
              <a:ext uri="{FF2B5EF4-FFF2-40B4-BE49-F238E27FC236}">
                <a16:creationId xmlns:a16="http://schemas.microsoft.com/office/drawing/2014/main" id="{8EADB107-CAEE-4E83-B3BF-A46A4659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7B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59938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204">
            <a:extLst xmlns:a="http://schemas.openxmlformats.org/drawingml/2006/main">
              <a:ext uri="{FF2B5EF4-FFF2-40B4-BE49-F238E27FC236}">
                <a16:creationId xmlns:a16="http://schemas.microsoft.com/office/drawing/2014/main" id="{C87628C3-B133-47D5-8BDB-69539165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CONTROL DE ACTIVOS OPERATIVOS</a:t>
            </a:r>
          </a:p>
        </p:txBody>
      </p:sp>
      <p:sp>
        <p:nvSpPr>
          <p:cNvPr id="2" name="text-205">
            <a:extLst xmlns:a="http://schemas.openxmlformats.org/drawingml/2006/main">
              <a:ext uri="{FF2B5EF4-FFF2-40B4-BE49-F238E27FC236}">
                <a16:creationId xmlns:a16="http://schemas.microsoft.com/office/drawing/2014/main" id="{7C666A97-3902-4BAA-A9EE-084D8EE4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Javas y bandejas permanecen trazables</a:t>
            </a:r>
          </a:p>
        </p:txBody>
      </p:sp>
      <p:sp>
        <p:nvSpPr>
          <p:cNvPr id="3" name="text-206">
            <a:extLst xmlns:a="http://schemas.openxmlformats.org/drawingml/2006/main">
              <a:ext uri="{FF2B5EF4-FFF2-40B4-BE49-F238E27FC236}">
                <a16:creationId xmlns:a16="http://schemas.microsoft.com/office/drawing/2014/main" id="{695E68BC-1791-471E-A57E-B696096D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El sistema vincula inventario, préstamos, devoluciones y saldos con los movimientos del negocio.</a:t>
            </a:r>
          </a:p>
        </p:txBody>
      </p:sp>
      <p:sp>
        <p:nvSpPr>
          <p:cNvPr id="4" name="shape-207">
            <a:extLst xmlns:a="http://schemas.openxmlformats.org/drawingml/2006/main">
              <a:ext uri="{FF2B5EF4-FFF2-40B4-BE49-F238E27FC236}">
                <a16:creationId xmlns:a16="http://schemas.microsoft.com/office/drawing/2014/main" id="{A141346C-632C-427D-B26D-B3DF7B21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628650" cy="514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5" name="shape-208">
            <a:extLst xmlns:a="http://schemas.openxmlformats.org/drawingml/2006/main">
              <a:ext uri="{FF2B5EF4-FFF2-40B4-BE49-F238E27FC236}">
                <a16:creationId xmlns:a16="http://schemas.microsoft.com/office/drawing/2014/main" id="{E05CDEBB-1B2D-4E5F-9227-F7FF0814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43250"/>
            <a:ext cx="628650" cy="514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6" name="shape-209">
            <a:extLst xmlns:a="http://schemas.openxmlformats.org/drawingml/2006/main">
              <a:ext uri="{FF2B5EF4-FFF2-40B4-BE49-F238E27FC236}">
                <a16:creationId xmlns:a16="http://schemas.microsoft.com/office/drawing/2014/main" id="{D2E7B848-5094-4ED6-BC50-10874200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628650" cy="514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7" name="shape-210">
            <a:extLst xmlns:a="http://schemas.openxmlformats.org/drawingml/2006/main">
              <a:ext uri="{FF2B5EF4-FFF2-40B4-BE49-F238E27FC236}">
                <a16:creationId xmlns:a16="http://schemas.microsoft.com/office/drawing/2014/main" id="{5070BBA7-6021-4F73-AFFF-C4F4B3F6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4384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8" name="text-211">
            <a:extLst xmlns:a="http://schemas.openxmlformats.org/drawingml/2006/main">
              <a:ext uri="{FF2B5EF4-FFF2-40B4-BE49-F238E27FC236}">
                <a16:creationId xmlns:a16="http://schemas.microsoft.com/office/drawing/2014/main" id="{66A4F8AE-D55C-4D24-9F7F-6A29AF07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-212">
            <a:extLst xmlns:a="http://schemas.openxmlformats.org/drawingml/2006/main">
              <a:ext uri="{FF2B5EF4-FFF2-40B4-BE49-F238E27FC236}">
                <a16:creationId xmlns:a16="http://schemas.microsoft.com/office/drawing/2014/main" id="{3974E58A-44DA-4E26-9947-4BDD7D0D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0" name="text-213">
            <a:extLst xmlns:a="http://schemas.openxmlformats.org/drawingml/2006/main">
              <a:ext uri="{FF2B5EF4-FFF2-40B4-BE49-F238E27FC236}">
                <a16:creationId xmlns:a16="http://schemas.microsoft.com/office/drawing/2014/main" id="{2573026A-4AC6-4B5C-9845-B35D747C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Existencia por tipo y ubicación.</a:t>
            </a:r>
          </a:p>
        </p:txBody>
      </p:sp>
      <p:sp>
        <p:nvSpPr>
          <p:cNvPr id="11" name="shape-214">
            <a:extLst xmlns:a="http://schemas.openxmlformats.org/drawingml/2006/main">
              <a:ext uri="{FF2B5EF4-FFF2-40B4-BE49-F238E27FC236}">
                <a16:creationId xmlns:a16="http://schemas.microsoft.com/office/drawing/2014/main" id="{F73F92AC-C6AD-4832-9103-A96911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05050"/>
            <a:ext cx="24384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12" name="text-215">
            <a:extLst xmlns:a="http://schemas.openxmlformats.org/drawingml/2006/main">
              <a:ext uri="{FF2B5EF4-FFF2-40B4-BE49-F238E27FC236}">
                <a16:creationId xmlns:a16="http://schemas.microsoft.com/office/drawing/2014/main" id="{F2DC2AC3-D5B7-4AC6-914A-580825B6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146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-216">
            <a:extLst xmlns:a="http://schemas.openxmlformats.org/drawingml/2006/main">
              <a:ext uri="{FF2B5EF4-FFF2-40B4-BE49-F238E27FC236}">
                <a16:creationId xmlns:a16="http://schemas.microsoft.com/office/drawing/2014/main" id="{494F3D0D-B295-42F4-833E-D08FBB4E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28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Entrega o préstamo</a:t>
            </a:r>
          </a:p>
        </p:txBody>
      </p:sp>
      <p:sp>
        <p:nvSpPr>
          <p:cNvPr id="14" name="text-217">
            <a:extLst xmlns:a="http://schemas.openxmlformats.org/drawingml/2006/main">
              <a:ext uri="{FF2B5EF4-FFF2-40B4-BE49-F238E27FC236}">
                <a16:creationId xmlns:a16="http://schemas.microsoft.com/office/drawing/2014/main" id="{E4BE4C43-D9ED-4245-9041-BE280B09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147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Movimiento asociado al cliente.</a:t>
            </a:r>
          </a:p>
        </p:txBody>
      </p:sp>
      <p:sp>
        <p:nvSpPr>
          <p:cNvPr id="15" name="shape-218">
            <a:extLst xmlns:a="http://schemas.openxmlformats.org/drawingml/2006/main">
              <a:ext uri="{FF2B5EF4-FFF2-40B4-BE49-F238E27FC236}">
                <a16:creationId xmlns:a16="http://schemas.microsoft.com/office/drawing/2014/main" id="{9E18C60E-7022-4E46-A965-54EF2DF4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24384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16" name="text-219">
            <a:extLst xmlns:a="http://schemas.openxmlformats.org/drawingml/2006/main">
              <a:ext uri="{FF2B5EF4-FFF2-40B4-BE49-F238E27FC236}">
                <a16:creationId xmlns:a16="http://schemas.microsoft.com/office/drawing/2014/main" id="{DA9CE206-9F1B-4914-AC22-1971374A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-220">
            <a:extLst xmlns:a="http://schemas.openxmlformats.org/drawingml/2006/main">
              <a:ext uri="{FF2B5EF4-FFF2-40B4-BE49-F238E27FC236}">
                <a16:creationId xmlns:a16="http://schemas.microsoft.com/office/drawing/2014/main" id="{1AD73EB9-4A73-4500-A2DF-643328B0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Devolución</a:t>
            </a:r>
          </a:p>
        </p:txBody>
      </p:sp>
      <p:sp>
        <p:nvSpPr>
          <p:cNvPr id="18" name="text-221">
            <a:extLst xmlns:a="http://schemas.openxmlformats.org/drawingml/2006/main">
              <a:ext uri="{FF2B5EF4-FFF2-40B4-BE49-F238E27FC236}">
                <a16:creationId xmlns:a16="http://schemas.microsoft.com/office/drawing/2014/main" id="{92C242A0-23E1-4FCB-A1AA-AB84A1E6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Retorno asociado al cliente.</a:t>
            </a:r>
          </a:p>
        </p:txBody>
      </p:sp>
      <p:sp>
        <p:nvSpPr>
          <p:cNvPr id="19" name="shape-222">
            <a:extLst xmlns:a="http://schemas.openxmlformats.org/drawingml/2006/main">
              <a:ext uri="{FF2B5EF4-FFF2-40B4-BE49-F238E27FC236}">
                <a16:creationId xmlns:a16="http://schemas.microsoft.com/office/drawing/2014/main" id="{8FCA72A6-C00D-42F8-BEFE-DAD792D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05050"/>
            <a:ext cx="243840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0A1E22"/>
          </a:solidFill>
          <a:ln xmlns:a="http://schemas.openxmlformats.org/drawingml/2006/main" w="9525">
            <a:solidFill>
              <a:srgbClr val="0A1E22"/>
            </a:solidFill>
            <a:prstDash val="solid"/>
          </a:ln>
        </p:spPr>
      </p:sp>
      <p:sp>
        <p:nvSpPr>
          <p:cNvPr id="20" name="text-223">
            <a:extLst xmlns:a="http://schemas.openxmlformats.org/drawingml/2006/main">
              <a:ext uri="{FF2B5EF4-FFF2-40B4-BE49-F238E27FC236}">
                <a16:creationId xmlns:a16="http://schemas.microsoft.com/office/drawing/2014/main" id="{FAA3B2F9-F34A-43A6-AD57-F2500BB8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text-224">
            <a:extLst xmlns:a="http://schemas.openxmlformats.org/drawingml/2006/main">
              <a:ext uri="{FF2B5EF4-FFF2-40B4-BE49-F238E27FC236}">
                <a16:creationId xmlns:a16="http://schemas.microsoft.com/office/drawing/2014/main" id="{1D02E642-D65B-43FD-90E3-68FDA3C6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Saldo trazable</a:t>
            </a:r>
          </a:p>
        </p:txBody>
      </p:sp>
      <p:sp>
        <p:nvSpPr>
          <p:cNvPr id="22" name="text-225">
            <a:extLst xmlns:a="http://schemas.openxmlformats.org/drawingml/2006/main">
              <a:ext uri="{FF2B5EF4-FFF2-40B4-BE49-F238E27FC236}">
                <a16:creationId xmlns:a16="http://schemas.microsoft.com/office/drawing/2014/main" id="{324685B0-2B20-42BA-B5EC-43BE6DAF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147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Historial y pendiente por devolver.</a:t>
            </a:r>
          </a:p>
        </p:txBody>
      </p:sp>
      <p:sp>
        <p:nvSpPr>
          <p:cNvPr id="23" name="shape-226">
            <a:extLst xmlns:a="http://schemas.openxmlformats.org/drawingml/2006/main">
              <a:ext uri="{FF2B5EF4-FFF2-40B4-BE49-F238E27FC236}">
                <a16:creationId xmlns:a16="http://schemas.microsoft.com/office/drawing/2014/main" id="{5DDABCCA-D429-4B46-AAF7-FB8D1CE4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81600"/>
            <a:ext cx="75247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24" name="text-227">
            <a:extLst xmlns:a="http://schemas.openxmlformats.org/drawingml/2006/main">
              <a:ext uri="{FF2B5EF4-FFF2-40B4-BE49-F238E27FC236}">
                <a16:creationId xmlns:a16="http://schemas.microsoft.com/office/drawing/2014/main" id="{0BA82A43-B90D-48AF-90B5-6A7C8D20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76850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Cada movimiento registra el cliente, el tipo y la cantidad; el sistema calcula el saldo pendiente.</a:t>
            </a:r>
          </a:p>
        </p:txBody>
      </p:sp>
      <p:sp>
        <p:nvSpPr>
          <p:cNvPr id="25" name="shape-228">
            <a:extLst xmlns:a="http://schemas.openxmlformats.org/drawingml/2006/main">
              <a:ext uri="{FF2B5EF4-FFF2-40B4-BE49-F238E27FC236}">
                <a16:creationId xmlns:a16="http://schemas.microsoft.com/office/drawing/2014/main" id="{D3EAB592-2D99-4C35-8734-D3015DB5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26" name="text-229">
            <a:extLst xmlns:a="http://schemas.openxmlformats.org/drawingml/2006/main">
              <a:ext uri="{FF2B5EF4-FFF2-40B4-BE49-F238E27FC236}">
                <a16:creationId xmlns:a16="http://schemas.microsoft.com/office/drawing/2014/main" id="{8443C131-8155-44A2-8553-4122B78F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27" name="text-230">
            <a:extLst xmlns:a="http://schemas.openxmlformats.org/drawingml/2006/main">
              <a:ext uri="{FF2B5EF4-FFF2-40B4-BE49-F238E27FC236}">
                <a16:creationId xmlns:a16="http://schemas.microsoft.com/office/drawing/2014/main" id="{22625C49-1AEA-446C-A060-5EE2771B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882914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text-231">
            <a:extLst xmlns:a="http://schemas.openxmlformats.org/drawingml/2006/main">
              <a:ext uri="{FF2B5EF4-FFF2-40B4-BE49-F238E27FC236}">
                <a16:creationId xmlns:a16="http://schemas.microsoft.com/office/drawing/2014/main" id="{F27D2E47-A500-43B6-B28D-BC61BA84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EVIDENCIA Y SALIDA</a:t>
            </a:r>
          </a:p>
        </p:txBody>
      </p:sp>
      <p:sp>
        <p:nvSpPr>
          <p:cNvPr id="2" name="text-232">
            <a:extLst xmlns:a="http://schemas.openxmlformats.org/drawingml/2006/main">
              <a:ext uri="{FF2B5EF4-FFF2-40B4-BE49-F238E27FC236}">
                <a16:creationId xmlns:a16="http://schemas.microsoft.com/office/drawing/2014/main" id="{94C54F2B-8FCF-451E-866D-87585114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Reportes listos para decidir y compartir</a:t>
            </a:r>
          </a:p>
        </p:txBody>
      </p:sp>
      <p:sp>
        <p:nvSpPr>
          <p:cNvPr id="3" name="text-233">
            <a:extLst xmlns:a="http://schemas.openxmlformats.org/drawingml/2006/main">
              <a:ext uri="{FF2B5EF4-FFF2-40B4-BE49-F238E27FC236}">
                <a16:creationId xmlns:a16="http://schemas.microsoft.com/office/drawing/2014/main" id="{26DA5947-0BEC-4CB3-9E38-7136AC64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REPORTE REAL DEL SISTEMA • DATOS DE DEMOSTRACIÓN</a:t>
            </a:r>
          </a:p>
        </p:txBody>
      </p:sp>
      <p:sp>
        <p:nvSpPr>
          <p:cNvPr id="4" name="shape-234">
            <a:extLst xmlns:a="http://schemas.openxmlformats.org/drawingml/2006/main">
              <a:ext uri="{FF2B5EF4-FFF2-40B4-BE49-F238E27FC236}">
                <a16:creationId xmlns:a16="http://schemas.microsoft.com/office/drawing/2014/main" id="{B88DCEC4-F154-4897-BCEA-308DC6E6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4770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5" name="text-235">
            <a:extLst xmlns:a="http://schemas.openxmlformats.org/drawingml/2006/main">
              <a:ext uri="{FF2B5EF4-FFF2-40B4-BE49-F238E27FC236}">
                <a16:creationId xmlns:a16="http://schemas.microsoft.com/office/drawing/2014/main" id="{0C76F916-E747-47D3-937D-64131655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REPORTE DE VENTAS POR CLIENTE</a:t>
            </a:r>
          </a:p>
        </p:txBody>
      </p:sp>
      <p:sp>
        <p:nvSpPr>
          <p:cNvPr id="6" name="text-236">
            <a:extLst xmlns:a="http://schemas.openxmlformats.org/drawingml/2006/main">
              <a:ext uri="{FF2B5EF4-FFF2-40B4-BE49-F238E27FC236}">
                <a16:creationId xmlns:a16="http://schemas.microsoft.com/office/drawing/2014/main" id="{DC3F538A-D9DA-41F4-AEF5-6422F8A3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94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Periodo de demostración</a:t>
            </a:r>
          </a:p>
        </p:txBody>
      </p:sp>
      <p:sp>
        <p:nvSpPr>
          <p:cNvPr id="7" name="shape-237">
            <a:extLst xmlns:a="http://schemas.openxmlformats.org/drawingml/2006/main">
              <a:ext uri="{FF2B5EF4-FFF2-40B4-BE49-F238E27FC236}">
                <a16:creationId xmlns:a16="http://schemas.microsoft.com/office/drawing/2014/main" id="{8C823CFE-43DC-43B3-B973-E7C58ECB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4668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7ECE9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8" name="text-238">
            <a:extLst xmlns:a="http://schemas.openxmlformats.org/drawingml/2006/main">
              <a:ext uri="{FF2B5EF4-FFF2-40B4-BE49-F238E27FC236}">
                <a16:creationId xmlns:a16="http://schemas.microsoft.com/office/drawing/2014/main" id="{B7AA7576-9862-4F6B-8218-D023C6C9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131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REGISTROS</a:t>
            </a:r>
          </a:p>
        </p:txBody>
      </p:sp>
      <p:sp>
        <p:nvSpPr>
          <p:cNvPr id="9" name="text-239">
            <a:extLst xmlns:a="http://schemas.openxmlformats.org/drawingml/2006/main">
              <a:ext uri="{FF2B5EF4-FFF2-40B4-BE49-F238E27FC236}">
                <a16:creationId xmlns:a16="http://schemas.microsoft.com/office/drawing/2014/main" id="{FB35F475-A6C6-4840-9A6A-1CBF3503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0" name="shape-240">
            <a:extLst xmlns:a="http://schemas.openxmlformats.org/drawingml/2006/main">
              <a:ext uri="{FF2B5EF4-FFF2-40B4-BE49-F238E27FC236}">
                <a16:creationId xmlns:a16="http://schemas.microsoft.com/office/drawing/2014/main" id="{E35EB85A-F0DE-4C13-818E-A6E2E30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43150"/>
            <a:ext cx="13716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7ECE9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11" name="text-241">
            <a:extLst xmlns:a="http://schemas.openxmlformats.org/drawingml/2006/main">
              <a:ext uri="{FF2B5EF4-FFF2-40B4-BE49-F238E27FC236}">
                <a16:creationId xmlns:a16="http://schemas.microsoft.com/office/drawing/2014/main" id="{F7CA3B1D-82B9-4B5D-81FE-E9D6525A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1219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AVES NETAS</a:t>
            </a:r>
          </a:p>
        </p:txBody>
      </p:sp>
      <p:sp>
        <p:nvSpPr>
          <p:cNvPr id="12" name="text-242">
            <a:extLst xmlns:a="http://schemas.openxmlformats.org/drawingml/2006/main">
              <a:ext uri="{FF2B5EF4-FFF2-40B4-BE49-F238E27FC236}">
                <a16:creationId xmlns:a16="http://schemas.microsoft.com/office/drawing/2014/main" id="{2113427B-DCF2-4BDD-BAE9-80B1F037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98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3,014</a:t>
            </a:r>
          </a:p>
        </p:txBody>
      </p:sp>
      <p:sp>
        <p:nvSpPr>
          <p:cNvPr id="13" name="shape-243">
            <a:extLst xmlns:a="http://schemas.openxmlformats.org/drawingml/2006/main">
              <a:ext uri="{FF2B5EF4-FFF2-40B4-BE49-F238E27FC236}">
                <a16:creationId xmlns:a16="http://schemas.microsoft.com/office/drawing/2014/main" id="{B7A7A364-6EC8-4064-B5BE-55DE6A83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15811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7ECE9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14" name="text-244">
            <a:extLst xmlns:a="http://schemas.openxmlformats.org/drawingml/2006/main">
              <a:ext uri="{FF2B5EF4-FFF2-40B4-BE49-F238E27FC236}">
                <a16:creationId xmlns:a16="http://schemas.microsoft.com/office/drawing/2014/main" id="{BF79A19E-D536-420B-AB15-B13BABBF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384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PESO NETO</a:t>
            </a:r>
          </a:p>
        </p:txBody>
      </p:sp>
      <p:sp>
        <p:nvSpPr>
          <p:cNvPr id="15" name="text-245">
            <a:extLst xmlns:a="http://schemas.openxmlformats.org/drawingml/2006/main">
              <a:ext uri="{FF2B5EF4-FFF2-40B4-BE49-F238E27FC236}">
                <a16:creationId xmlns:a16="http://schemas.microsoft.com/office/drawing/2014/main" id="{4E32C4A1-759B-4519-8E58-3F6911D8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11,164.900 kg</a:t>
            </a:r>
          </a:p>
        </p:txBody>
      </p:sp>
      <p:sp>
        <p:nvSpPr>
          <p:cNvPr id="16" name="shape-246">
            <a:extLst xmlns:a="http://schemas.openxmlformats.org/drawingml/2006/main">
              <a:ext uri="{FF2B5EF4-FFF2-40B4-BE49-F238E27FC236}">
                <a16:creationId xmlns:a16="http://schemas.microsoft.com/office/drawing/2014/main" id="{C2A6EEC0-A742-49AF-8430-B9608A58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1485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7ECE9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17" name="text-247">
            <a:extLst xmlns:a="http://schemas.openxmlformats.org/drawingml/2006/main">
              <a:ext uri="{FF2B5EF4-FFF2-40B4-BE49-F238E27FC236}">
                <a16:creationId xmlns:a16="http://schemas.microsoft.com/office/drawing/2014/main" id="{D68E369E-A5F8-4061-AB1A-FE369D9A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VENTA TOTAL</a:t>
            </a:r>
          </a:p>
        </p:txBody>
      </p:sp>
      <p:sp>
        <p:nvSpPr>
          <p:cNvPr id="18" name="text-248">
            <a:extLst xmlns:a="http://schemas.openxmlformats.org/drawingml/2006/main">
              <a:ext uri="{FF2B5EF4-FFF2-40B4-BE49-F238E27FC236}">
                <a16:creationId xmlns:a16="http://schemas.microsoft.com/office/drawing/2014/main" id="{AD9548DC-A763-4C3F-8552-0BCF29D4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S/ 43,531.63</a:t>
            </a:r>
          </a:p>
        </p:txBody>
      </p:sp>
      <p:sp>
        <p:nvSpPr>
          <p:cNvPr id="19" name="shape-249">
            <a:extLst xmlns:a="http://schemas.openxmlformats.org/drawingml/2006/main">
              <a:ext uri="{FF2B5EF4-FFF2-40B4-BE49-F238E27FC236}">
                <a16:creationId xmlns:a16="http://schemas.microsoft.com/office/drawing/2014/main" id="{D5DB47F8-C82D-4458-9ECD-573BA82F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text-250">
            <a:extLst xmlns:a="http://schemas.openxmlformats.org/drawingml/2006/main">
              <a:ext uri="{FF2B5EF4-FFF2-40B4-BE49-F238E27FC236}">
                <a16:creationId xmlns:a16="http://schemas.microsoft.com/office/drawing/2014/main" id="{97851E42-3D86-4C98-A002-4680EFBA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1943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21" name="shape-251">
            <a:extLst xmlns:a="http://schemas.openxmlformats.org/drawingml/2006/main">
              <a:ext uri="{FF2B5EF4-FFF2-40B4-BE49-F238E27FC236}">
                <a16:creationId xmlns:a16="http://schemas.microsoft.com/office/drawing/2014/main" id="{F4F2F7A2-E5B2-43D1-A0AC-D33E0C50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480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text-252">
            <a:extLst xmlns:a="http://schemas.openxmlformats.org/drawingml/2006/main">
              <a:ext uri="{FF2B5EF4-FFF2-40B4-BE49-F238E27FC236}">
                <a16:creationId xmlns:a16="http://schemas.microsoft.com/office/drawing/2014/main" id="{24B0DF07-CBD5-4F8E-81FE-3C381AC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33725"/>
            <a:ext cx="914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CANAL</a:t>
            </a:r>
          </a:p>
        </p:txBody>
      </p:sp>
      <p:sp>
        <p:nvSpPr>
          <p:cNvPr id="23" name="shape-253">
            <a:extLst xmlns:a="http://schemas.openxmlformats.org/drawingml/2006/main">
              <a:ext uri="{FF2B5EF4-FFF2-40B4-BE49-F238E27FC236}">
                <a16:creationId xmlns:a16="http://schemas.microsoft.com/office/drawing/2014/main" id="{7ECDB912-4891-4BCD-9C88-80F8DA18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4800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text-254">
            <a:extLst xmlns:a="http://schemas.openxmlformats.org/drawingml/2006/main">
              <a:ext uri="{FF2B5EF4-FFF2-40B4-BE49-F238E27FC236}">
                <a16:creationId xmlns:a16="http://schemas.microsoft.com/office/drawing/2014/main" id="{9ACD4B5C-1FCA-4137-90CE-FE41B45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33725"/>
            <a:ext cx="1257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PESO NETO</a:t>
            </a:r>
          </a:p>
        </p:txBody>
      </p:sp>
      <p:sp>
        <p:nvSpPr>
          <p:cNvPr id="25" name="shape-255">
            <a:extLst xmlns:a="http://schemas.openxmlformats.org/drawingml/2006/main">
              <a:ext uri="{FF2B5EF4-FFF2-40B4-BE49-F238E27FC236}">
                <a16:creationId xmlns:a16="http://schemas.microsoft.com/office/drawing/2014/main" id="{CCD8D461-5113-4A46-844F-F651FFDD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AA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text-256">
            <a:extLst xmlns:a="http://schemas.openxmlformats.org/drawingml/2006/main">
              <a:ext uri="{FF2B5EF4-FFF2-40B4-BE49-F238E27FC236}">
                <a16:creationId xmlns:a16="http://schemas.microsoft.com/office/drawing/2014/main" id="{A312907B-3036-4F9E-A53D-80B1EBC7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TOTAL S/</a:t>
            </a:r>
          </a:p>
        </p:txBody>
      </p:sp>
      <p:sp>
        <p:nvSpPr>
          <p:cNvPr id="27" name="shape-257">
            <a:extLst xmlns:a="http://schemas.openxmlformats.org/drawingml/2006/main">
              <a:ext uri="{FF2B5EF4-FFF2-40B4-BE49-F238E27FC236}">
                <a16:creationId xmlns:a16="http://schemas.microsoft.com/office/drawing/2014/main" id="{099F53B9-20E0-42C7-88D4-9CA8F7E4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28" name="text-258">
            <a:extLst xmlns:a="http://schemas.openxmlformats.org/drawingml/2006/main">
              <a:ext uri="{FF2B5EF4-FFF2-40B4-BE49-F238E27FC236}">
                <a16:creationId xmlns:a16="http://schemas.microsoft.com/office/drawing/2014/main" id="{80321FF8-79CD-47D7-9AF0-839F86F9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Cliente demo A</a:t>
            </a:r>
          </a:p>
        </p:txBody>
      </p:sp>
      <p:sp>
        <p:nvSpPr>
          <p:cNvPr id="29" name="shape-259">
            <a:extLst xmlns:a="http://schemas.openxmlformats.org/drawingml/2006/main">
              <a:ext uri="{FF2B5EF4-FFF2-40B4-BE49-F238E27FC236}">
                <a16:creationId xmlns:a16="http://schemas.microsoft.com/office/drawing/2014/main" id="{75F6FE02-E084-4917-9907-F718B475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30" name="text-260">
            <a:extLst xmlns:a="http://schemas.openxmlformats.org/drawingml/2006/main">
              <a:ext uri="{FF2B5EF4-FFF2-40B4-BE49-F238E27FC236}">
                <a16:creationId xmlns:a16="http://schemas.microsoft.com/office/drawing/2014/main" id="{B05AD468-705A-4792-AE55-07B37D45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1947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Mayorista</a:t>
            </a:r>
          </a:p>
        </p:txBody>
      </p:sp>
      <p:sp>
        <p:nvSpPr>
          <p:cNvPr id="31" name="shape-261">
            <a:extLst xmlns:a="http://schemas.openxmlformats.org/drawingml/2006/main">
              <a:ext uri="{FF2B5EF4-FFF2-40B4-BE49-F238E27FC236}">
                <a16:creationId xmlns:a16="http://schemas.microsoft.com/office/drawing/2014/main" id="{66671CE8-55B0-41BC-B65E-DE662337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32" name="text-262">
            <a:extLst xmlns:a="http://schemas.openxmlformats.org/drawingml/2006/main">
              <a:ext uri="{FF2B5EF4-FFF2-40B4-BE49-F238E27FC236}">
                <a16:creationId xmlns:a16="http://schemas.microsoft.com/office/drawing/2014/main" id="{0F794590-0B51-49AE-B0F5-6D9FAB51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19475"/>
            <a:ext cx="1257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1,008.200 kg</a:t>
            </a:r>
          </a:p>
        </p:txBody>
      </p:sp>
      <p:sp>
        <p:nvSpPr>
          <p:cNvPr id="33" name="shape-263">
            <a:extLst xmlns:a="http://schemas.openxmlformats.org/drawingml/2006/main">
              <a:ext uri="{FF2B5EF4-FFF2-40B4-BE49-F238E27FC236}">
                <a16:creationId xmlns:a16="http://schemas.microsoft.com/office/drawing/2014/main" id="{4188A82B-4783-4DC8-A6B2-A378ECD4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34" name="text-264">
            <a:extLst xmlns:a="http://schemas.openxmlformats.org/drawingml/2006/main">
              <a:ext uri="{FF2B5EF4-FFF2-40B4-BE49-F238E27FC236}">
                <a16:creationId xmlns:a16="http://schemas.microsoft.com/office/drawing/2014/main" id="{16012AD3-D7D4-4C16-A7A5-4DF88E0A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19475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S/ 3,931.98</a:t>
            </a:r>
          </a:p>
        </p:txBody>
      </p:sp>
      <p:sp>
        <p:nvSpPr>
          <p:cNvPr id="35" name="shape-265">
            <a:extLst xmlns:a="http://schemas.openxmlformats.org/drawingml/2006/main">
              <a:ext uri="{FF2B5EF4-FFF2-40B4-BE49-F238E27FC236}">
                <a16:creationId xmlns:a16="http://schemas.microsoft.com/office/drawing/2014/main" id="{4E9E0C3B-D7DC-49B7-92AE-3CD1E87D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36" name="text-266">
            <a:extLst xmlns:a="http://schemas.openxmlformats.org/drawingml/2006/main">
              <a:ext uri="{FF2B5EF4-FFF2-40B4-BE49-F238E27FC236}">
                <a16:creationId xmlns:a16="http://schemas.microsoft.com/office/drawing/2014/main" id="{1EA08E07-5774-406B-B30E-51E967AD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4332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Cliente demo B</a:t>
            </a:r>
          </a:p>
        </p:txBody>
      </p:sp>
      <p:sp>
        <p:nvSpPr>
          <p:cNvPr id="37" name="shape-267">
            <a:extLst xmlns:a="http://schemas.openxmlformats.org/drawingml/2006/main">
              <a:ext uri="{FF2B5EF4-FFF2-40B4-BE49-F238E27FC236}">
                <a16:creationId xmlns:a16="http://schemas.microsoft.com/office/drawing/2014/main" id="{1472309A-562F-469E-AA9F-8C71E0DB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576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38" name="text-268">
            <a:extLst xmlns:a="http://schemas.openxmlformats.org/drawingml/2006/main">
              <a:ext uri="{FF2B5EF4-FFF2-40B4-BE49-F238E27FC236}">
                <a16:creationId xmlns:a16="http://schemas.microsoft.com/office/drawing/2014/main" id="{9DFAB84C-7473-4531-B928-AE907BCC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433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Minorista</a:t>
            </a:r>
          </a:p>
        </p:txBody>
      </p:sp>
      <p:sp>
        <p:nvSpPr>
          <p:cNvPr id="39" name="shape-269">
            <a:extLst xmlns:a="http://schemas.openxmlformats.org/drawingml/2006/main">
              <a:ext uri="{FF2B5EF4-FFF2-40B4-BE49-F238E27FC236}">
                <a16:creationId xmlns:a16="http://schemas.microsoft.com/office/drawing/2014/main" id="{AAB406E8-F23C-40F0-860B-4D9CF6F5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576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40" name="text-270">
            <a:extLst xmlns:a="http://schemas.openxmlformats.org/drawingml/2006/main">
              <a:ext uri="{FF2B5EF4-FFF2-40B4-BE49-F238E27FC236}">
                <a16:creationId xmlns:a16="http://schemas.microsoft.com/office/drawing/2014/main" id="{93D1AC4C-85C2-46C7-8F5D-8947C568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1257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515.900 kg</a:t>
            </a:r>
          </a:p>
        </p:txBody>
      </p:sp>
      <p:sp>
        <p:nvSpPr>
          <p:cNvPr id="41" name="shape-271">
            <a:extLst xmlns:a="http://schemas.openxmlformats.org/drawingml/2006/main">
              <a:ext uri="{FF2B5EF4-FFF2-40B4-BE49-F238E27FC236}">
                <a16:creationId xmlns:a16="http://schemas.microsoft.com/office/drawing/2014/main" id="{04A0EC29-5054-4F23-B21F-C1F46DC4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576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BBC7C3"/>
            </a:solidFill>
            <a:prstDash val="solid"/>
          </a:ln>
        </p:spPr>
      </p:sp>
      <p:sp>
        <p:nvSpPr>
          <p:cNvPr id="42" name="text-272">
            <a:extLst xmlns:a="http://schemas.openxmlformats.org/drawingml/2006/main">
              <a:ext uri="{FF2B5EF4-FFF2-40B4-BE49-F238E27FC236}">
                <a16:creationId xmlns:a16="http://schemas.microsoft.com/office/drawing/2014/main" id="{11499B77-177B-4D48-8EFD-F3C6974A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43325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S/ 2,192.58</a:t>
            </a:r>
          </a:p>
        </p:txBody>
      </p:sp>
      <p:sp>
        <p:nvSpPr>
          <p:cNvPr id="43" name="shape-273">
            <a:extLst xmlns:a="http://schemas.openxmlformats.org/drawingml/2006/main">
              <a:ext uri="{FF2B5EF4-FFF2-40B4-BE49-F238E27FC236}">
                <a16:creationId xmlns:a16="http://schemas.microsoft.com/office/drawing/2014/main" id="{A2ECA9D6-7B0C-476F-8E75-6B3D7766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61341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44" name="text-274">
            <a:extLst xmlns:a="http://schemas.openxmlformats.org/drawingml/2006/main">
              <a:ext uri="{FF2B5EF4-FFF2-40B4-BE49-F238E27FC236}">
                <a16:creationId xmlns:a16="http://schemas.microsoft.com/office/drawing/2014/main" id="{80D94032-DB7A-455F-9C7F-376960CA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56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VISTA DEL REPORTE · DATOS ANONIMIZADOS</a:t>
            </a:r>
          </a:p>
        </p:txBody>
      </p:sp>
      <p:sp>
        <p:nvSpPr>
          <p:cNvPr id="45" name="text-275">
            <a:extLst xmlns:a="http://schemas.openxmlformats.org/drawingml/2006/main">
              <a:ext uri="{FF2B5EF4-FFF2-40B4-BE49-F238E27FC236}">
                <a16:creationId xmlns:a16="http://schemas.microsoft.com/office/drawing/2014/main" id="{9F468B05-929B-48D2-8CDB-90DF4F7D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4B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4B43"/>
                </a:solidFill>
                <a:latin typeface="Arial"/>
                <a:ea typeface="Arial"/>
                <a:cs typeface="Arial"/>
              </a:rPr>
              <a:t>Muestra de datos: no representa resultados garantizados.</a:t>
            </a:r>
          </a:p>
        </p:txBody>
      </p:sp>
      <p:sp>
        <p:nvSpPr>
          <p:cNvPr id="46" name="text-276">
            <a:extLst xmlns:a="http://schemas.openxmlformats.org/drawingml/2006/main">
              <a:ext uri="{FF2B5EF4-FFF2-40B4-BE49-F238E27FC236}">
                <a16:creationId xmlns:a16="http://schemas.microsoft.com/office/drawing/2014/main" id="{8C8A47C5-1F1F-45F3-B766-383E5A6F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SALIDAS</a:t>
            </a:r>
          </a:p>
        </p:txBody>
      </p:sp>
      <p:sp>
        <p:nvSpPr>
          <p:cNvPr id="47" name="text-277">
            <a:extLst xmlns:a="http://schemas.openxmlformats.org/drawingml/2006/main">
              <a:ext uri="{FF2B5EF4-FFF2-40B4-BE49-F238E27FC236}">
                <a16:creationId xmlns:a16="http://schemas.microsoft.com/office/drawing/2014/main" id="{8604AE71-D688-4EA1-9775-5F55F796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959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PDF  •  IMAGEN  •  CSV SEGÚN REPORTE</a:t>
            </a:r>
          </a:p>
        </p:txBody>
      </p:sp>
      <p:sp>
        <p:nvSpPr>
          <p:cNvPr id="48" name="text-278">
            <a:extLst xmlns:a="http://schemas.openxmlformats.org/drawingml/2006/main">
              <a:ext uri="{FF2B5EF4-FFF2-40B4-BE49-F238E27FC236}">
                <a16:creationId xmlns:a16="http://schemas.microsoft.com/office/drawing/2014/main" id="{BFBCE53E-51B2-4018-9506-7F4564A4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7 reportes PDF disponibles</a:t>
            </a:r>
          </a:p>
        </p:txBody>
      </p:sp>
      <p:sp>
        <p:nvSpPr>
          <p:cNvPr id="49" name="text-279">
            <a:extLst xmlns:a="http://schemas.openxmlformats.org/drawingml/2006/main">
              <a:ext uri="{FF2B5EF4-FFF2-40B4-BE49-F238E27FC236}">
                <a16:creationId xmlns:a16="http://schemas.microsoft.com/office/drawing/2014/main" id="{AE106A17-7E97-4FE4-A984-F0E3202E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0" name="text-280">
            <a:extLst xmlns:a="http://schemas.openxmlformats.org/drawingml/2006/main">
              <a:ext uri="{FF2B5EF4-FFF2-40B4-BE49-F238E27FC236}">
                <a16:creationId xmlns:a16="http://schemas.microsoft.com/office/drawing/2014/main" id="{8ADEA52F-CB8F-4ED7-9FF6-460788CE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Ventas por cliente</a:t>
            </a:r>
          </a:p>
        </p:txBody>
      </p:sp>
      <p:sp>
        <p:nvSpPr>
          <p:cNvPr id="51" name="shape-281">
            <a:extLst xmlns:a="http://schemas.openxmlformats.org/drawingml/2006/main">
              <a:ext uri="{FF2B5EF4-FFF2-40B4-BE49-F238E27FC236}">
                <a16:creationId xmlns:a16="http://schemas.microsoft.com/office/drawing/2014/main" id="{55F917F4-7E75-4D99-BAC4-C87C5817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52" name="text-282">
            <a:extLst xmlns:a="http://schemas.openxmlformats.org/drawingml/2006/main">
              <a:ext uri="{FF2B5EF4-FFF2-40B4-BE49-F238E27FC236}">
                <a16:creationId xmlns:a16="http://schemas.microsoft.com/office/drawing/2014/main" id="{55B2D659-51DE-4BF5-BB4B-A61BD013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3" name="text-283">
            <a:extLst xmlns:a="http://schemas.openxmlformats.org/drawingml/2006/main">
              <a:ext uri="{FF2B5EF4-FFF2-40B4-BE49-F238E27FC236}">
                <a16:creationId xmlns:a16="http://schemas.microsoft.com/office/drawing/2014/main" id="{652FD200-DA36-4DA0-BF19-75128356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860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Estado de cuenta de cliente</a:t>
            </a:r>
          </a:p>
        </p:txBody>
      </p:sp>
      <p:sp>
        <p:nvSpPr>
          <p:cNvPr id="54" name="shape-284">
            <a:extLst xmlns:a="http://schemas.openxmlformats.org/drawingml/2006/main">
              <a:ext uri="{FF2B5EF4-FFF2-40B4-BE49-F238E27FC236}">
                <a16:creationId xmlns:a16="http://schemas.microsoft.com/office/drawing/2014/main" id="{AAC0A0DC-54F4-4978-A452-42A48E78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86075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55" name="text-285">
            <a:extLst xmlns:a="http://schemas.openxmlformats.org/drawingml/2006/main">
              <a:ext uri="{FF2B5EF4-FFF2-40B4-BE49-F238E27FC236}">
                <a16:creationId xmlns:a16="http://schemas.microsoft.com/office/drawing/2014/main" id="{0F9E21DC-00A0-49FD-841F-E81011E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6" name="text-286">
            <a:extLst xmlns:a="http://schemas.openxmlformats.org/drawingml/2006/main">
              <a:ext uri="{FF2B5EF4-FFF2-40B4-BE49-F238E27FC236}">
                <a16:creationId xmlns:a16="http://schemas.microsoft.com/office/drawing/2014/main" id="{4ECAA86B-D9E7-49EE-AF45-5E997817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384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Estado de cuenta de proveedor</a:t>
            </a:r>
          </a:p>
        </p:txBody>
      </p:sp>
      <p:sp>
        <p:nvSpPr>
          <p:cNvPr id="57" name="shape-287">
            <a:extLst xmlns:a="http://schemas.openxmlformats.org/drawingml/2006/main">
              <a:ext uri="{FF2B5EF4-FFF2-40B4-BE49-F238E27FC236}">
                <a16:creationId xmlns:a16="http://schemas.microsoft.com/office/drawing/2014/main" id="{EDFE358C-40C8-45C1-BD8A-EFE5358E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38525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58" name="text-288">
            <a:extLst xmlns:a="http://schemas.openxmlformats.org/drawingml/2006/main">
              <a:ext uri="{FF2B5EF4-FFF2-40B4-BE49-F238E27FC236}">
                <a16:creationId xmlns:a16="http://schemas.microsoft.com/office/drawing/2014/main" id="{D3D6B7A7-6887-4823-8572-F7033C15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9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9" name="text-289">
            <a:extLst xmlns:a="http://schemas.openxmlformats.org/drawingml/2006/main">
              <a:ext uri="{FF2B5EF4-FFF2-40B4-BE49-F238E27FC236}">
                <a16:creationId xmlns:a16="http://schemas.microsoft.com/office/drawing/2014/main" id="{C8B8D8ED-405E-4459-8906-82C972C1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909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Pagos y cobros</a:t>
            </a:r>
          </a:p>
        </p:txBody>
      </p:sp>
      <p:sp>
        <p:nvSpPr>
          <p:cNvPr id="60" name="shape-290">
            <a:extLst xmlns:a="http://schemas.openxmlformats.org/drawingml/2006/main">
              <a:ext uri="{FF2B5EF4-FFF2-40B4-BE49-F238E27FC236}">
                <a16:creationId xmlns:a16="http://schemas.microsoft.com/office/drawing/2014/main" id="{337E7B08-20AD-49D1-8711-8F3F33B6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90975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61" name="text-291">
            <a:extLst xmlns:a="http://schemas.openxmlformats.org/drawingml/2006/main">
              <a:ext uri="{FF2B5EF4-FFF2-40B4-BE49-F238E27FC236}">
                <a16:creationId xmlns:a16="http://schemas.microsoft.com/office/drawing/2014/main" id="{C9099FB1-ADA1-4009-9A1A-84A55EC8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62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2" name="text-292">
            <a:extLst xmlns:a="http://schemas.openxmlformats.org/drawingml/2006/main">
              <a:ext uri="{FF2B5EF4-FFF2-40B4-BE49-F238E27FC236}">
                <a16:creationId xmlns:a16="http://schemas.microsoft.com/office/drawing/2014/main" id="{3C663E01-15D0-4D11-B0FD-91ACC7CC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Movimientos por responsable</a:t>
            </a:r>
          </a:p>
        </p:txBody>
      </p:sp>
      <p:sp>
        <p:nvSpPr>
          <p:cNvPr id="63" name="shape-293">
            <a:extLst xmlns:a="http://schemas.openxmlformats.org/drawingml/2006/main">
              <a:ext uri="{FF2B5EF4-FFF2-40B4-BE49-F238E27FC236}">
                <a16:creationId xmlns:a16="http://schemas.microsoft.com/office/drawing/2014/main" id="{517E20CD-95E5-4E43-9E86-55C3E4C5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64" name="text-294">
            <a:extLst xmlns:a="http://schemas.openxmlformats.org/drawingml/2006/main">
              <a:ext uri="{FF2B5EF4-FFF2-40B4-BE49-F238E27FC236}">
                <a16:creationId xmlns:a16="http://schemas.microsoft.com/office/drawing/2014/main" id="{DF9558E7-8792-4CED-AC31-FB56494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14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5" name="text-295">
            <a:extLst xmlns:a="http://schemas.openxmlformats.org/drawingml/2006/main">
              <a:ext uri="{FF2B5EF4-FFF2-40B4-BE49-F238E27FC236}">
                <a16:creationId xmlns:a16="http://schemas.microsoft.com/office/drawing/2014/main" id="{27F327F1-1953-466A-A98D-EB1C27D4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958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Cuentas de clientes</a:t>
            </a:r>
          </a:p>
        </p:txBody>
      </p:sp>
      <p:sp>
        <p:nvSpPr>
          <p:cNvPr id="66" name="shape-296">
            <a:extLst xmlns:a="http://schemas.openxmlformats.org/drawingml/2006/main">
              <a:ext uri="{FF2B5EF4-FFF2-40B4-BE49-F238E27FC236}">
                <a16:creationId xmlns:a16="http://schemas.microsoft.com/office/drawing/2014/main" id="{6FEBC4FF-91C7-41B6-A30C-B6586530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67" name="text-297">
            <a:extLst xmlns:a="http://schemas.openxmlformats.org/drawingml/2006/main">
              <a:ext uri="{FF2B5EF4-FFF2-40B4-BE49-F238E27FC236}">
                <a16:creationId xmlns:a16="http://schemas.microsoft.com/office/drawing/2014/main" id="{91A79577-E51F-49A4-A6BC-5CC85EE1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67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AA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AA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8" name="text-298">
            <a:extLst xmlns:a="http://schemas.openxmlformats.org/drawingml/2006/main">
              <a:ext uri="{FF2B5EF4-FFF2-40B4-BE49-F238E27FC236}">
                <a16:creationId xmlns:a16="http://schemas.microsoft.com/office/drawing/2014/main" id="{62B6A29C-91B5-4C1C-AB9A-DE6936D8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482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0A1E22"/>
                </a:solidFill>
                <a:latin typeface="Arial"/>
                <a:ea typeface="Arial"/>
                <a:cs typeface="Arial"/>
              </a:rPr>
              <a:t>Ruta de cobranza 2</a:t>
            </a:r>
          </a:p>
        </p:txBody>
      </p:sp>
      <p:sp>
        <p:nvSpPr>
          <p:cNvPr id="69" name="shape-299">
            <a:extLst xmlns:a="http://schemas.openxmlformats.org/drawingml/2006/main">
              <a:ext uri="{FF2B5EF4-FFF2-40B4-BE49-F238E27FC236}">
                <a16:creationId xmlns:a16="http://schemas.microsoft.com/office/drawing/2014/main" id="{8871B167-0F7D-46D0-BA1B-D8FB7E91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70" name="text-300">
            <a:extLst xmlns:a="http://schemas.openxmlformats.org/drawingml/2006/main">
              <a:ext uri="{FF2B5EF4-FFF2-40B4-BE49-F238E27FC236}">
                <a16:creationId xmlns:a16="http://schemas.microsoft.com/office/drawing/2014/main" id="{D1B03965-6663-416F-8C5A-070C73B9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71" name="text-301">
            <a:extLst xmlns:a="http://schemas.openxmlformats.org/drawingml/2006/main">
              <a:ext uri="{FF2B5EF4-FFF2-40B4-BE49-F238E27FC236}">
                <a16:creationId xmlns:a16="http://schemas.microsoft.com/office/drawing/2014/main" id="{23C812C8-3BA4-4590-9095-ADC84838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59697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302">
            <a:extLst xmlns:a="http://schemas.openxmlformats.org/drawingml/2006/main">
              <a:ext uri="{FF2B5EF4-FFF2-40B4-BE49-F238E27FC236}">
                <a16:creationId xmlns:a16="http://schemas.microsoft.com/office/drawing/2014/main" id="{F611A647-57C2-43A6-B3BB-523BD567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63A"/>
                </a:solidFill>
                <a:latin typeface="Arial"/>
                <a:ea typeface="Arial"/>
                <a:cs typeface="Arial"/>
              </a:rPr>
              <a:t>ESCENARIO VALIDADO</a:t>
            </a:r>
          </a:p>
        </p:txBody>
      </p:sp>
      <p:sp>
        <p:nvSpPr>
          <p:cNvPr id="2" name="text-303">
            <a:extLst xmlns:a="http://schemas.openxmlformats.org/drawingml/2006/main">
              <a:ext uri="{FF2B5EF4-FFF2-40B4-BE49-F238E27FC236}">
                <a16:creationId xmlns:a16="http://schemas.microsoft.com/office/drawing/2014/main" id="{41E2A70F-F588-4D77-A73F-D59EB9B7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Reporte de prueba: peso, venta y devolución</a:t>
            </a:r>
          </a:p>
        </p:txBody>
      </p:sp>
      <p:sp>
        <p:nvSpPr>
          <p:cNvPr id="3" name="text-304">
            <a:extLst xmlns:a="http://schemas.openxmlformats.org/drawingml/2006/main">
              <a:ext uri="{FF2B5EF4-FFF2-40B4-BE49-F238E27FC236}">
                <a16:creationId xmlns:a16="http://schemas.microsoft.com/office/drawing/2014/main" id="{7B8E8FDE-A251-4512-8F49-7649EE5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PESO NETO POR CLIENTE (KG)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619250"/>
          <a:ext xmlns:a="http://schemas.openxmlformats.org/drawingml/2006/main" cx="5905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e532067ef244f7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6896100" y="1809750"/>
          <a:ext xmlns:a="http://schemas.openxmlformats.org/drawingml/2006/main" cx="46863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143000"/>
                <a:gridCol w="1143000"/>
                <a:gridCol w="876300"/>
              </a:tblGrid>
              <a:tr h="6000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Cliente</a:t>
                      </a:r>
                    </a:p>
                  </a:txBody>
                  <a:tcPr marL="76200" marR="76200" marT="95250" marB="76200" anchor="ctr">
                    <a:solidFill>
                      <a:srgbClr val="0A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Peso neto</a:t>
                      </a:r>
                    </a:p>
                  </a:txBody>
                  <a:tcPr marL="76200" marR="76200" marT="95250" marB="76200" anchor="ctr">
                    <a:solidFill>
                      <a:srgbClr val="0A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Venta</a:t>
                      </a:r>
                    </a:p>
                  </a:txBody>
                  <a:tcPr marL="76200" marR="76200" marT="95250" marB="76200" anchor="ctr">
                    <a:solidFill>
                      <a:srgbClr val="0A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Aves</a:t>
                      </a:r>
                    </a:p>
                  </a:txBody>
                  <a:tcPr marL="76200" marR="76200" marT="95250" marB="76200" anchor="ctr">
                    <a:solidFill>
                      <a:srgbClr val="0A1E2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1E22"/>
                          </a:solidFill>
                        </a:rPr>
                        <a:t>Cliente Alfa</a:t>
                      </a:r>
                    </a:p>
                  </a:txBody>
                  <a:tcPr marL="76200" marR="762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1E22"/>
                          </a:solidFill>
                        </a:rPr>
                        <a:t>80 kg</a:t>
                      </a:r>
                    </a:p>
                  </a:txBody>
                  <a:tcPr marL="76200" marR="762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1E22"/>
                          </a:solidFill>
                        </a:rPr>
                        <a:t>S/ 390</a:t>
                      </a:r>
                    </a:p>
                  </a:txBody>
                  <a:tcPr marL="76200" marR="762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1E22"/>
                          </a:solidFill>
                        </a:rPr>
                        <a:t>20</a:t>
                      </a:r>
                    </a:p>
                  </a:txBody>
                  <a:tcPr marL="76200" marR="76200" marT="85725" marB="7620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1E22"/>
                          </a:solidFill>
                        </a:rPr>
                        <a:t>Cliente Beta</a:t>
                      </a:r>
                    </a:p>
                  </a:txBody>
                  <a:tcPr marL="76200" marR="762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1E22"/>
                          </a:solidFill>
                        </a:rPr>
                        <a:t>45 kg</a:t>
                      </a:r>
                    </a:p>
                  </a:txBody>
                  <a:tcPr marL="76200" marR="762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1E22"/>
                          </a:solidFill>
                        </a:rPr>
                        <a:t>S/ 315</a:t>
                      </a:r>
                    </a:p>
                  </a:txBody>
                  <a:tcPr marL="76200" marR="762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A1E22"/>
                          </a:solidFill>
                        </a:rPr>
                        <a:t>10</a:t>
                      </a:r>
                    </a:p>
                  </a:txBody>
                  <a:tcPr marL="76200" marR="76200" marT="85725" marB="7620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1E22"/>
                          </a:solidFill>
                        </a:rPr>
                        <a:t>Total</a:t>
                      </a:r>
                    </a:p>
                  </a:txBody>
                  <a:tcPr marL="76200" marR="76200" marT="85725" marB="76200" anchor="ctr">
                    <a:solidFill>
                      <a:srgbClr val="FFD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1E22"/>
                          </a:solidFill>
                        </a:rPr>
                        <a:t>125 kg</a:t>
                      </a:r>
                    </a:p>
                  </a:txBody>
                  <a:tcPr marL="76200" marR="76200" marT="85725" marB="76200" anchor="ctr">
                    <a:solidFill>
                      <a:srgbClr val="FFD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1E22"/>
                          </a:solidFill>
                        </a:rPr>
                        <a:t>S/ 705</a:t>
                      </a:r>
                    </a:p>
                  </a:txBody>
                  <a:tcPr marL="76200" marR="76200" marT="85725" marB="76200" anchor="ctr">
                    <a:solidFill>
                      <a:srgbClr val="FFD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A1E22"/>
                          </a:solidFill>
                        </a:rPr>
                        <a:t>30</a:t>
                      </a:r>
                    </a:p>
                  </a:txBody>
                  <a:tcPr marL="76200" marR="76200" marT="85725" marB="76200" anchor="ctr">
                    <a:solidFill>
                      <a:srgbClr val="FFD761"/>
                    </a:solidFill>
                  </a:tcPr>
                </a:tc>
              </a:tr>
            </a:tbl>
          </a:graphicData>
        </a:graphic>
      </p:graphicFrame>
      <p:sp>
        <p:nvSpPr>
          <p:cNvPr id="6" name="shape-305">
            <a:extLst xmlns:a="http://schemas.openxmlformats.org/drawingml/2006/main">
              <a:ext uri="{FF2B5EF4-FFF2-40B4-BE49-F238E27FC236}">
                <a16:creationId xmlns:a16="http://schemas.microsoft.com/office/drawing/2014/main" id="{16044648-D32E-4BD1-8A2A-D450C5BE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14850"/>
            <a:ext cx="46863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7" name="text-306">
            <a:extLst xmlns:a="http://schemas.openxmlformats.org/drawingml/2006/main">
              <a:ext uri="{FF2B5EF4-FFF2-40B4-BE49-F238E27FC236}">
                <a16:creationId xmlns:a16="http://schemas.microsoft.com/office/drawing/2014/main" id="{C276B459-ADF6-4C16-8D20-1206E0B9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863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1E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1E22"/>
                </a:solidFill>
                <a:latin typeface="Arial"/>
                <a:ea typeface="Arial"/>
                <a:cs typeface="Arial"/>
              </a:rPr>
              <a:t>3 javas  •  30 aves  •  10 kg devueltos</a:t>
            </a:r>
          </a:p>
        </p:txBody>
      </p:sp>
      <p:sp>
        <p:nvSpPr>
          <p:cNvPr id="8" name="text-307">
            <a:extLst xmlns:a="http://schemas.openxmlformats.org/drawingml/2006/main">
              <a:ext uri="{FF2B5EF4-FFF2-40B4-BE49-F238E27FC236}">
                <a16:creationId xmlns:a16="http://schemas.microsoft.com/office/drawing/2014/main" id="{34260E7D-5727-4D43-93A6-523D671F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6730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A6C"/>
                </a:solidFill>
                <a:latin typeface="Arial"/>
                <a:ea typeface="Arial"/>
                <a:cs typeface="Arial"/>
              </a:rPr>
              <a:t>La devolución queda registrada dentro del mismo escenario.</a:t>
            </a:r>
          </a:p>
        </p:txBody>
      </p:sp>
      <p:sp>
        <p:nvSpPr>
          <p:cNvPr id="9" name="text-308">
            <a:extLst xmlns:a="http://schemas.openxmlformats.org/drawingml/2006/main">
              <a:ext uri="{FF2B5EF4-FFF2-40B4-BE49-F238E27FC236}">
                <a16:creationId xmlns:a16="http://schemas.microsoft.com/office/drawing/2014/main" id="{88CF4E93-EF71-413D-BA43-94B61835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4B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4B43"/>
                </a:solidFill>
                <a:latin typeface="Arial"/>
                <a:ea typeface="Arial"/>
                <a:cs typeface="Arial"/>
              </a:rPr>
              <a:t>Ejemplo elaborado con datos de prueba validados; no corresponde a información de un cliente real.</a:t>
            </a:r>
          </a:p>
        </p:txBody>
      </p:sp>
      <p:sp>
        <p:nvSpPr>
          <p:cNvPr id="10" name="shape-309">
            <a:extLst xmlns:a="http://schemas.openxmlformats.org/drawingml/2006/main">
              <a:ext uri="{FF2B5EF4-FFF2-40B4-BE49-F238E27FC236}">
                <a16:creationId xmlns:a16="http://schemas.microsoft.com/office/drawing/2014/main" id="{5ADE6834-C2FC-44ED-B9BE-5C8488C0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7C3"/>
          </a:solidFill>
          <a:ln xmlns:a="http://schemas.openxmlformats.org/drawingml/2006/main" w="0">
            <a:solidFill>
              <a:srgbClr val="BBC7C3"/>
            </a:solidFill>
            <a:prstDash val="solid"/>
          </a:ln>
        </p:spPr>
      </p:sp>
      <p:sp>
        <p:nvSpPr>
          <p:cNvPr id="11" name="text-310">
            <a:extLst xmlns:a="http://schemas.openxmlformats.org/drawingml/2006/main">
              <a:ext uri="{FF2B5EF4-FFF2-40B4-BE49-F238E27FC236}">
                <a16:creationId xmlns:a16="http://schemas.microsoft.com/office/drawing/2014/main" id="{9DBC2EBE-013F-4C5A-ABFC-888E1CF8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SISTEMA AVÍCOLA  •  PRESENTACIÓN COMERCIAL</a:t>
            </a:r>
          </a:p>
        </p:txBody>
      </p:sp>
      <p:sp>
        <p:nvSpPr>
          <p:cNvPr id="12" name="text-311">
            <a:extLst xmlns:a="http://schemas.openxmlformats.org/drawingml/2006/main">
              <a:ext uri="{FF2B5EF4-FFF2-40B4-BE49-F238E27FC236}">
                <a16:creationId xmlns:a16="http://schemas.microsoft.com/office/drawing/2014/main" id="{D90B7914-634F-484F-B3C1-43E792FF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A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A6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248978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E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aadc94f484a72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313">
            <a:extLst xmlns:a="http://schemas.openxmlformats.org/drawingml/2006/main">
              <a:ext uri="{FF2B5EF4-FFF2-40B4-BE49-F238E27FC236}">
                <a16:creationId xmlns:a16="http://schemas.microsoft.com/office/drawing/2014/main" id="{3779F700-7ED6-4412-9E66-11091136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5c5d64ed94eff"/>
          <a:stretch xmlns:a="http://schemas.openxmlformats.org/drawingml/2006/main"/>
        </p:blipFill>
        <p:spPr>
          <a:xfrm xmlns:a="http://schemas.openxmlformats.org/drawingml/2006/main">
            <a:off x="609600" y="457200"/>
            <a:ext cx="609600" cy="609600"/>
          </a:xfrm>
          <a:prstGeom xmlns:a="http://schemas.openxmlformats.org/drawingml/2006/main" prst="roundRect">
            <a:avLst>
              <a:gd name="adj" fmla="val 25000"/>
            </a:avLst>
          </a:prstGeom>
        </p:spPr>
      </p:pic>
      <p:sp>
        <p:nvSpPr>
          <p:cNvPr id="4" name="text-315">
            <a:extLst xmlns:a="http://schemas.openxmlformats.org/drawingml/2006/main">
              <a:ext uri="{FF2B5EF4-FFF2-40B4-BE49-F238E27FC236}">
                <a16:creationId xmlns:a16="http://schemas.microsoft.com/office/drawing/2014/main" id="{AF9BB824-4D13-4216-8678-77575C7C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05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AGENDA UNA DEMOSTRACIÓN</a:t>
            </a:r>
          </a:p>
        </p:txBody>
      </p:sp>
      <p:sp>
        <p:nvSpPr>
          <p:cNvPr id="5" name="text-316">
            <a:extLst xmlns:a="http://schemas.openxmlformats.org/drawingml/2006/main">
              <a:ext uri="{FF2B5EF4-FFF2-40B4-BE49-F238E27FC236}">
                <a16:creationId xmlns:a16="http://schemas.microsoft.com/office/drawing/2014/main" id="{25ECF6D6-BAA4-4DEB-AD24-393B5005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4953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 flujo real es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punto de partida.</a:t>
            </a:r>
          </a:p>
        </p:txBody>
      </p:sp>
      <p:sp>
        <p:nvSpPr>
          <p:cNvPr id="6" name="text-317">
            <a:extLst xmlns:a="http://schemas.openxmlformats.org/drawingml/2006/main">
              <a:ext uri="{FF2B5EF4-FFF2-40B4-BE49-F238E27FC236}">
                <a16:creationId xmlns:a16="http://schemas.microsoft.com/office/drawing/2014/main" id="{0A5CCA5D-7296-4803-8985-55EFD9E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318">
            <a:extLst xmlns:a="http://schemas.openxmlformats.org/drawingml/2006/main">
              <a:ext uri="{FF2B5EF4-FFF2-40B4-BE49-F238E27FC236}">
                <a16:creationId xmlns:a16="http://schemas.microsoft.com/office/drawing/2014/main" id="{069ECC06-91F6-42DC-81DD-2368F281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Revisamos</a:t>
            </a:r>
          </a:p>
        </p:txBody>
      </p:sp>
      <p:sp>
        <p:nvSpPr>
          <p:cNvPr id="8" name="text-319">
            <a:extLst xmlns:a="http://schemas.openxmlformats.org/drawingml/2006/main">
              <a:ext uri="{FF2B5EF4-FFF2-40B4-BE49-F238E27FC236}">
                <a16:creationId xmlns:a16="http://schemas.microsoft.com/office/drawing/2014/main" id="{A0DE783A-E7ED-4E98-B56E-67909983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766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cómo vendes y despachas</a:t>
            </a:r>
          </a:p>
        </p:txBody>
      </p:sp>
      <p:sp>
        <p:nvSpPr>
          <p:cNvPr id="9" name="text-320">
            <a:extLst xmlns:a="http://schemas.openxmlformats.org/drawingml/2006/main">
              <a:ext uri="{FF2B5EF4-FFF2-40B4-BE49-F238E27FC236}">
                <a16:creationId xmlns:a16="http://schemas.microsoft.com/office/drawing/2014/main" id="{E78BF0D4-170A-4594-A531-493CE198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321">
            <a:extLst xmlns:a="http://schemas.openxmlformats.org/drawingml/2006/main">
              <a:ext uri="{FF2B5EF4-FFF2-40B4-BE49-F238E27FC236}">
                <a16:creationId xmlns:a16="http://schemas.microsoft.com/office/drawing/2014/main" id="{EC585FF1-8DA0-4D2A-AB5A-ED9517E6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624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Configuramos</a:t>
            </a:r>
          </a:p>
        </p:txBody>
      </p:sp>
      <p:sp>
        <p:nvSpPr>
          <p:cNvPr id="11" name="text-322">
            <a:extLst xmlns:a="http://schemas.openxmlformats.org/drawingml/2006/main">
              <a:ext uri="{FF2B5EF4-FFF2-40B4-BE49-F238E27FC236}">
                <a16:creationId xmlns:a16="http://schemas.microsoft.com/office/drawing/2014/main" id="{08F944E1-08D5-4FB8-9C44-21B25CB9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puestos, precios y accesos</a:t>
            </a:r>
          </a:p>
        </p:txBody>
      </p:sp>
      <p:sp>
        <p:nvSpPr>
          <p:cNvPr id="12" name="text-323">
            <a:extLst xmlns:a="http://schemas.openxmlformats.org/drawingml/2006/main">
              <a:ext uri="{FF2B5EF4-FFF2-40B4-BE49-F238E27FC236}">
                <a16:creationId xmlns:a16="http://schemas.microsoft.com/office/drawing/2014/main" id="{E3AA4A53-5429-435C-A3D8-A0A27CFE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324">
            <a:extLst xmlns:a="http://schemas.openxmlformats.org/drawingml/2006/main">
              <a:ext uri="{FF2B5EF4-FFF2-40B4-BE49-F238E27FC236}">
                <a16:creationId xmlns:a16="http://schemas.microsoft.com/office/drawing/2014/main" id="{90683166-623D-4982-A39B-81C92ED3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Personalizamos</a:t>
            </a:r>
          </a:p>
        </p:txBody>
      </p:sp>
      <p:sp>
        <p:nvSpPr>
          <p:cNvPr id="14" name="text-325">
            <a:extLst xmlns:a="http://schemas.openxmlformats.org/drawingml/2006/main">
              <a:ext uri="{FF2B5EF4-FFF2-40B4-BE49-F238E27FC236}">
                <a16:creationId xmlns:a16="http://schemas.microsoft.com/office/drawing/2014/main" id="{559F0C30-53EA-4991-A7A1-26330D4D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244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7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7B8"/>
                </a:solidFill>
                <a:latin typeface="Arial"/>
                <a:ea typeface="Arial"/>
                <a:cs typeface="Arial"/>
              </a:rPr>
              <a:t>los pasos necesarios</a:t>
            </a:r>
          </a:p>
        </p:txBody>
      </p:sp>
      <p:sp>
        <p:nvSpPr>
          <p:cNvPr id="15" name="shape-326">
            <a:extLst xmlns:a="http://schemas.openxmlformats.org/drawingml/2006/main">
              <a:ext uri="{FF2B5EF4-FFF2-40B4-BE49-F238E27FC236}">
                <a16:creationId xmlns:a16="http://schemas.microsoft.com/office/drawing/2014/main" id="{635910B9-F0F0-49B9-BD27-0AC0AE18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9D4"/>
          </a:solidFill>
          <a:ln xmlns:a="http://schemas.openxmlformats.org/drawingml/2006/main" w="0">
            <a:solidFill>
              <a:srgbClr val="18B9D4"/>
            </a:solidFill>
            <a:prstDash val="solid"/>
          </a:ln>
        </p:spPr>
      </p:sp>
      <p:sp>
        <p:nvSpPr>
          <p:cNvPr id="16" name="text-327">
            <a:extLst xmlns:a="http://schemas.openxmlformats.org/drawingml/2006/main">
              <a:ext uri="{FF2B5EF4-FFF2-40B4-BE49-F238E27FC236}">
                <a16:creationId xmlns:a16="http://schemas.microsoft.com/office/drawing/2014/main" id="{BF952C93-F7B7-4911-BCF3-AE9E6F28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Gustavo Noriega</a:t>
            </a:r>
          </a:p>
        </p:txBody>
      </p:sp>
      <p:sp>
        <p:nvSpPr>
          <p:cNvPr id="17" name="text-328">
            <a:extLst xmlns:a="http://schemas.openxmlformats.org/drawingml/2006/main">
              <a:ext uri="{FF2B5EF4-FFF2-40B4-BE49-F238E27FC236}">
                <a16:creationId xmlns:a16="http://schemas.microsoft.com/office/drawing/2014/main" id="{61058251-59E3-4224-826E-90B8FDE3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WhatsApp  949 421 023</a:t>
            </a:r>
          </a:p>
        </p:txBody>
      </p:sp>
    </p:spTree>
    <p:extLst>
      <p:ext uri="{BB962C8B-B14F-4D97-AF65-F5344CB8AC3E}">
        <p14:creationId xmlns:p14="http://schemas.microsoft.com/office/powerpoint/2010/main" val="1655209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2026-08-24T19:28:52.7690000Z</dcterms:created>
  <dcterms:modified xsi:type="dcterms:W3CDTF">2026-08-24T19:28:52.7690000Z</dcterms:modified>
</coreProperties>
</file>